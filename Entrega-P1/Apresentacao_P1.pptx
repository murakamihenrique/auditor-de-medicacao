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685800" y="1676400"/>
            <a:ext cx="10820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b="1" spc="190" kern="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SEÇÃO</a:t>
            </a:r>
            <a:endParaRPr lang="en-US" sz="13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943100"/>
            <a:ext cx="10820400" cy="1485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1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100" b="1" dirty="0">
                <a:solidFill>
                  <a:schemeClr val="accent1"/>
                </a:solidFill>
              </a:rPr>
              <a:t>Título</a:t>
            </a:r>
            <a:endParaRPr lang="en-US" sz="5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b="1" spc="190" kern="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SEÇÃO</a:t>
            </a:r>
            <a:endParaRPr lang="en-US" sz="13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762000"/>
            <a:ext cx="10820400" cy="5143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3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Título</a:t>
            </a:r>
            <a:endParaRPr lang="en-US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_TITULO_2_LINH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b="1" spc="190" kern="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SEÇÃO</a:t>
            </a:r>
            <a:endParaRPr lang="en-US" sz="13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762000"/>
            <a:ext cx="10820400" cy="990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3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Título</a:t>
            </a:r>
            <a:endParaRPr lang="en-US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167640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PCS 3858 · LABORATÓRIO DE SISTEMAS EMBARCADOS · TURMA 3 · P1</a:t>
            </a:r>
            <a:endParaRPr lang="en-US" sz="13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1943100"/>
            <a:ext cx="1082040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b="1" dirty="0">
                <a:solidFill>
                  <a:schemeClr val="accent1"/>
                </a:solidFill>
              </a:rPr>
              <a:t>Auditor Visual</a:t>
            </a:r>
            <a:endParaRPr lang="en-US" sz="5100" dirty="0"/>
          </a:p>
          <a:p>
            <a:pPr algn="l" indent="0" marL="0">
              <a:buNone/>
            </a:pPr>
            <a:r>
              <a:rPr lang="en-US" sz="5100" b="1" dirty="0">
                <a:solidFill>
                  <a:schemeClr val="accent1"/>
                </a:solidFill>
              </a:rPr>
              <a:t>de Medicação</a:t>
            </a:r>
            <a:endParaRPr lang="en-US" sz="5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505200"/>
            <a:ext cx="8572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2"/>
                </a:solidFill>
              </a:rPr>
              <a:t>Um ESP32 com câmera verifica se a dose do dia foi retirada do porta-comprimidos e avisa o cuidador pelo Telegram.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591050"/>
            <a:ext cx="10820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chemeClr val="tx1"/>
                </a:solidFill>
              </a:rPr>
              <a:t>Gabriel Dias Tambelli · Henrique Murakami de Paula · Juliana Marcarini Carloni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953000"/>
            <a:ext cx="108204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Prof. Dr. Carlos Eduardo Cugnasca · 16/10/2026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PROBLEMA E PROPOSTA</a:t>
            </a:r>
            <a:endParaRPr lang="en-US" sz="13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762000"/>
            <a:ext cx="108204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Esquecer a dose é comum. O cuidador nem sempre está perto.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chemeClr val="accent2"/>
                </a:solidFill>
              </a:rPr>
              <a:t>Gabriel</a:t>
            </a:r>
            <a:endParaRPr lang="en-US" sz="112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52625"/>
            <a:ext cx="52197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Mais de 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50%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dos pacientes crônicos e idosos não seguem o tratamento como prescrito.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Dispensadores automáticos são caros e trocam a caixa que o paciente já usa.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Nossa proposta: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um observador passivo sobre um porta-comprimidos comum.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286500" y="1952625"/>
            <a:ext cx="5219700" cy="304800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203200" tIns="165100" rIns="203200" bIns="16510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725" b="1" dirty="0">
                <a:solidFill>
                  <a:schemeClr val="accent1"/>
                </a:solidFill>
              </a:rPr>
              <a:t>O que o protótipo faz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horário, observa o compartimento com a câmera.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Decide: </a:t>
            </a:r>
            <a:pPr algn="l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retirada</a:t>
            </a:r>
            <a:pPr algn="l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, </a:t>
            </a:r>
            <a:pPr algn="l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não retirada</a:t>
            </a:r>
            <a:pPr algn="l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ou </a:t>
            </a:r>
            <a:pPr algn="l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não foi possível ver</a:t>
            </a:r>
            <a:pPr algn="l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Avisa o cuidador no celular, com foto quando é preciso conferir.</a:t>
            </a:r>
            <a:endParaRPr lang="en-US" sz="1425" dirty="0"/>
          </a:p>
          <a:p>
            <a:pPr algn="l" indent="0" marL="0">
              <a:spcBef>
                <a:spcPts val="800"/>
              </a:spcBef>
              <a:buNone/>
            </a:pPr>
            <a:r>
              <a:rPr lang="en-US" sz="1275" dirty="0">
                <a:solidFill>
                  <a:schemeClr val="tx2"/>
                </a:solidFill>
              </a:rPr>
              <a:t>Não identifica o remédio nem comprova a ingestão: verifica o compartimento.</a:t>
            </a:r>
            <a:endParaRPr lang="en-US" sz="14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ESPIRAL EVOLUCIONÁRIA</a:t>
            </a:r>
            <a:endParaRPr lang="en-US" sz="13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762000"/>
            <a:ext cx="108204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O escopo evoluiu a cada ciclo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chemeClr val="accent2"/>
                </a:solidFill>
              </a:rPr>
              <a:t>Gabriel</a:t>
            </a:r>
            <a:endParaRPr lang="en-US" sz="1125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5900"/>
          <a:ext cx="10820400" cy="914400"/>
        </p:xfrm>
        <a:graphic>
          <a:graphicData uri="http://schemas.openxmlformats.org/drawingml/2006/table">
            <a:tbl>
              <a:tblPr/>
              <a:tblGrid>
                <a:gridCol w="990600"/>
                <a:gridCol w="2438400"/>
                <a:gridCol w="3952875"/>
                <a:gridCol w="3438525"/>
              </a:tblGrid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Proposta (set)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Plano (Tarefa 02)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MVP atual (out)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Placa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XIAO ESP32-S3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ESP32-S3-ETH + câmera avulsa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ESP32-CAM RoboCore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Visão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CNN (TinyML)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Referências cheio/vazio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Só a referência vazio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Hora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RTC DS3231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Manual pela serial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SNTP (Internet)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Alerta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Wi-Fi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Buzzer + botão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Telegram com foto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Uso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Bateria, deep sleep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PC conectado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Só na fonte, sem PC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Caixa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7 dias × 3 doses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1 compartimento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1 compartimento, 1 dose/dia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5800" y="4152900"/>
            <a:ext cx="10820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75" dirty="0">
                <a:solidFill>
                  <a:schemeClr val="tx1"/>
                </a:solidFill>
              </a:rPr>
              <a:t>Motivos: sem dados rotulados para treinar uma CNN; a câmera integrada elimina o risco de compatibilidade; o cuidador precisa ser avisado </a:t>
            </a:r>
            <a:pPr indent="0" marL="0">
              <a:lnSpc>
                <a:spcPct val="112000"/>
              </a:lnSpc>
              <a:buNone/>
            </a:pPr>
            <a:r>
              <a:rPr lang="en-US" sz="1575" b="1" dirty="0">
                <a:solidFill>
                  <a:schemeClr val="tx1"/>
                </a:solidFill>
              </a:rPr>
              <a:t>à distância</a:t>
            </a:r>
            <a:pPr indent="0" marL="0">
              <a:lnSpc>
                <a:spcPct val="112000"/>
              </a:lnSpc>
              <a:buNone/>
            </a:pPr>
            <a:r>
              <a:rPr lang="en-US" sz="1575" dirty="0">
                <a:solidFill>
                  <a:schemeClr val="tx1"/>
                </a:solidFill>
              </a:rPr>
              <a:t>.</a:t>
            </a:r>
            <a:endParaRPr lang="en-US" sz="15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HARDWARE</a:t>
            </a:r>
            <a:endParaRPr lang="en-US" sz="13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762000"/>
            <a:ext cx="108204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Uma placa comercial, sem eletrônica extra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chemeClr val="accent2"/>
                </a:solidFill>
              </a:rPr>
              <a:t>Gabriel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685800" y="1581150"/>
            <a:ext cx="2085975" cy="1000125"/>
          </a:xfrm>
          <a:prstGeom prst="roundRect">
            <a:avLst>
              <a:gd name="adj" fmla="val 9524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Fonte USB</a:t>
            </a:r>
            <a:endParaRPr lang="en-US" sz="1425" dirty="0"/>
          </a:p>
          <a:p>
            <a:pPr algn="ctr" indent="0" marL="0">
              <a:buNone/>
            </a:pPr>
            <a:r>
              <a:rPr lang="en-US" sz="1650" b="1" dirty="0">
                <a:solidFill>
                  <a:schemeClr val="accent1"/>
                </a:solidFill>
              </a:rPr>
              <a:t>5 V / 2 A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2771775" y="1581150"/>
            <a:ext cx="45720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28975" y="1581150"/>
            <a:ext cx="2076450" cy="1000125"/>
          </a:xfrm>
          <a:prstGeom prst="roundRect">
            <a:avLst>
              <a:gd name="adj" fmla="val 9524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Gravador</a:t>
            </a:r>
            <a:endParaRPr lang="en-US" sz="1425" dirty="0"/>
          </a:p>
          <a:p>
            <a:pPr algn="ctr" indent="0" marL="0">
              <a:buNone/>
            </a:pPr>
            <a:r>
              <a:rPr lang="en-US" sz="1650" b="1" dirty="0">
                <a:solidFill>
                  <a:schemeClr val="accent1"/>
                </a:solidFill>
              </a:rPr>
              <a:t>CH340</a:t>
            </a:r>
            <a:endParaRPr lang="en-US" sz="1425" dirty="0"/>
          </a:p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USB ↔ UART</a:t>
            </a:r>
            <a:endParaRPr lang="en-US" sz="1425" dirty="0"/>
          </a:p>
        </p:txBody>
      </p:sp>
      <p:sp>
        <p:nvSpPr>
          <p:cNvPr id="8" name="Text 6"/>
          <p:cNvSpPr txBox="1"/>
          <p:nvPr/>
        </p:nvSpPr>
        <p:spPr>
          <a:xfrm>
            <a:off x="5305425" y="1581150"/>
            <a:ext cx="44767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753100" y="1581150"/>
            <a:ext cx="3209925" cy="1000125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chemeClr val="accent1"/>
                </a:solidFill>
              </a:rPr>
              <a:t>ESP32-D0WD-V3</a:t>
            </a:r>
            <a:endParaRPr lang="en-US" sz="1425" dirty="0"/>
          </a:p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2 × LX6 240 MHz · 520 KB SRAM</a:t>
            </a:r>
            <a:endParaRPr lang="en-US" sz="1425" dirty="0"/>
          </a:p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PSRAM 8 MB · Flash 16 MB · Wi-Fi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8963025" y="1581150"/>
            <a:ext cx="44767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↔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410700" y="1581150"/>
            <a:ext cx="2095500" cy="1000125"/>
          </a:xfrm>
          <a:prstGeom prst="roundRect">
            <a:avLst>
              <a:gd name="adj" fmla="val 9524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chemeClr val="accent1"/>
                </a:solidFill>
              </a:rPr>
              <a:t>OV2640</a:t>
            </a:r>
            <a:endParaRPr lang="en-US" sz="1425" dirty="0"/>
          </a:p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DVP 8 bits + SCCB</a:t>
            </a:r>
            <a:endParaRPr lang="en-US" sz="142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857500"/>
            <a:ext cx="52197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Conferida em bancada com o esptool: a placa tinha 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mais memória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do que o anúncio (16 MB de flash e PSRAM).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Câmera 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não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seguia a pinagem AI-Thinker: o clock fica no GPIO21 (pinagem WROVER KIT).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286500" y="2857500"/>
            <a:ext cx="52197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Pinagem escolhida por 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perfil salvo na NVS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, sem recompilar.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Fonte de 2 A: Wi-Fi e câmera juntos geram picos de corrente (risco de 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brownout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).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Câmera 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fixa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sobre o compartimento.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REQUISITOS</a:t>
            </a:r>
            <a:endParaRPr lang="en-US" sz="13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762000"/>
            <a:ext cx="108204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Requisitos revistos para o MVP autônomo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chemeClr val="accent2"/>
                </a:solidFill>
              </a:rPr>
              <a:t>Juliana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685800" y="1485900"/>
            <a:ext cx="5219700" cy="325755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9050">
            <a:solidFill>
              <a:srgbClr val="C9D1DA"/>
            </a:solidFill>
          </a:ln>
        </p:spPr>
        <p:txBody>
          <a:bodyPr wrap="square" lIns="203200" tIns="165100" rIns="203200" bIns="16510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chemeClr val="accent1"/>
                </a:solidFill>
              </a:rPr>
              <a:t>Funcionais</a:t>
            </a:r>
            <a:endParaRPr lang="en-US" sz="1425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7250" y="2000250"/>
          <a:ext cx="4876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762000"/>
              </a:tblGrid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Configurar horário, Wi-Fi e Telegram pelo PC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OK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Calibrar ROI e o vazio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OK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Qualquer comprimido, qualquer posição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OK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Verificação diária automática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IMPL.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Retirada só com evidência persistente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IMPL.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Aviso remoto com foto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OK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Reinício sem inferir retirada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OK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286500" y="1485900"/>
            <a:ext cx="5219700" cy="2895600"/>
          </a:xfrm>
          <a:prstGeom prst="roundRect">
            <a:avLst>
              <a:gd name="adj" fmla="val 3947"/>
            </a:avLst>
          </a:prstGeom>
          <a:solidFill>
            <a:schemeClr val="bg1"/>
          </a:solidFill>
          <a:ln w="19050">
            <a:solidFill>
              <a:srgbClr val="C9D1DA"/>
            </a:solidFill>
          </a:ln>
        </p:spPr>
        <p:txBody>
          <a:bodyPr wrap="square" lIns="203200" tIns="165100" rIns="203200" bIns="16510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chemeClr val="accent1"/>
                </a:solidFill>
              </a:rPr>
              <a:t>Não funcionais</a:t>
            </a:r>
            <a:endParaRPr lang="en-US" sz="1425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57950" y="2000250"/>
          <a:ext cx="4876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762000"/>
              </a:tblGrid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Tudo processado no ESP32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OK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Leitura ≤ 2 s → </a:t>
                      </a:r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168–220 ms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OK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≥ 90% de acerto por classe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ENSAIO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20 ciclos sem reinício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ENSAIO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Senhas e token fora dos registros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OK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Ferramentas no Windows e no macOS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OK</a:t>
                      </a:r>
                      <a:endParaRPr lang="en-US" sz="1050" dirty="0"/>
                    </a:p>
                  </a:txBody>
                  <a:tcPr marL="88900" marR="889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SOFTWARE · FREERTOS + ESP-IDF 5.4.1</a:t>
            </a:r>
            <a:endParaRPr lang="en-US" sz="13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762000"/>
            <a:ext cx="108204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Arquitetura do firmware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chemeClr val="accent2"/>
                </a:solidFill>
              </a:rPr>
              <a:t>Juliana</a:t>
            </a:r>
            <a:endParaRPr lang="en-US" sz="112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5900"/>
            <a:ext cx="521970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Núcleo C++17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sem dependência de hardware: visão, agenda e máquina de estados. Testado no PC com 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311 verificações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Módulos de plataforma: câmera, Wi-Fi/SNTP, Telegram, NVS e eventos.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Câmera iniciada 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antes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do Wi-Fi, que fragmenta a memória interna.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Watchdog de 30 s; reconexão do Wi-Fi com espera crescente.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86500" y="1485900"/>
          <a:ext cx="5219700" cy="914400"/>
        </p:xfrm>
        <a:graphic>
          <a:graphicData uri="http://schemas.openxmlformats.org/drawingml/2006/table">
            <a:tbl>
              <a:tblPr/>
              <a:tblGrid>
                <a:gridCol w="1524000"/>
                <a:gridCol w="3695700"/>
              </a:tblGrid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</a:rPr>
                        <a:t>Tarefa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main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laço de 100 ms: comandos, agenda, leituras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usb_commands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recebe JSON da serial → fila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telegram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fila de 8 avisos, HTTPS, até 20 tentativas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cam_task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DMA dos quadros (núcleo 1)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wifi / lwIP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rede, SNTP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86500" y="3733800"/>
            <a:ext cx="5219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A rede nunca atrasa as capturas: o aviso entra numa fila.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MÁQUINA DE ESTADOS E AGENDA</a:t>
            </a:r>
            <a:endParaRPr lang="en-US" sz="13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762000"/>
            <a:ext cx="108204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Ausência de dado nunca vira “retirada”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chemeClr val="accent2"/>
                </a:solidFill>
              </a:rPr>
              <a:t>Juliana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685800" y="1571625"/>
            <a:ext cx="1952625" cy="1581150"/>
          </a:xfrm>
          <a:prstGeom prst="roundRect">
            <a:avLst>
              <a:gd name="adj" fmla="val 6024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Idle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2638425" y="1571625"/>
            <a:ext cx="447675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086100" y="1571625"/>
            <a:ext cx="1952625" cy="1581150"/>
          </a:xfrm>
          <a:prstGeom prst="roundRect">
            <a:avLst>
              <a:gd name="adj" fmla="val 6024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Armed</a:t>
            </a:r>
            <a:endParaRPr lang="en-US" sz="1425" dirty="0"/>
          </a:p>
          <a:p>
            <a:pPr algn="ctr" indent="0" marL="0">
              <a:buNone/>
            </a:pPr>
            <a:r>
              <a:rPr lang="en-US" sz="1125" dirty="0">
                <a:solidFill>
                  <a:schemeClr val="tx1"/>
                </a:solidFill>
              </a:rPr>
              <a:t>aguarda horário</a:t>
            </a:r>
            <a:endParaRPr lang="en-US" sz="1425" dirty="0"/>
          </a:p>
        </p:txBody>
      </p:sp>
      <p:sp>
        <p:nvSpPr>
          <p:cNvPr id="8" name="Text 6"/>
          <p:cNvSpPr txBox="1"/>
          <p:nvPr/>
        </p:nvSpPr>
        <p:spPr>
          <a:xfrm>
            <a:off x="5038725" y="1571625"/>
            <a:ext cx="438150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76875" y="1571625"/>
            <a:ext cx="1962150" cy="1581150"/>
          </a:xfrm>
          <a:prstGeom prst="roundRect">
            <a:avLst>
              <a:gd name="adj" fmla="val 6024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Monitoring</a:t>
            </a:r>
            <a:endParaRPr lang="en-US" sz="1425" dirty="0"/>
          </a:p>
          <a:p>
            <a:pPr algn="ctr" indent="0" marL="0">
              <a:buNone/>
            </a:pPr>
            <a:r>
              <a:rPr lang="en-US" sz="1125" dirty="0">
                <a:solidFill>
                  <a:schemeClr val="tx1"/>
                </a:solidFill>
              </a:rPr>
              <a:t>leitura a cada 5 s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7439025" y="1571625"/>
            <a:ext cx="438150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877175" y="1571625"/>
            <a:ext cx="1771650" cy="876300"/>
          </a:xfrm>
          <a:prstGeom prst="roundRect">
            <a:avLst>
              <a:gd name="adj" fmla="val 10870"/>
            </a:avLst>
          </a:prstGeom>
          <a:solidFill>
            <a:schemeClr val="bg1"/>
          </a:solidFill>
          <a:ln w="19050">
            <a:solidFill>
              <a:srgbClr val="C9D1DA"/>
            </a:solidFill>
          </a:ln>
        </p:spPr>
        <p:txBody>
          <a:bodyPr wrap="square" lIns="114300" tIns="63500" rIns="114300" bIns="635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✅ </a:t>
            </a:r>
            <a:pPr algn="l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Removed</a:t>
            </a:r>
            <a:endParaRPr lang="en-US" sz="1425" dirty="0"/>
          </a:p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viu a dose, depois 2 vazios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9734550" y="1571625"/>
            <a:ext cx="1771650" cy="876300"/>
          </a:xfrm>
          <a:prstGeom prst="roundRect">
            <a:avLst>
              <a:gd name="adj" fmla="val 10870"/>
            </a:avLst>
          </a:prstGeom>
          <a:solidFill>
            <a:schemeClr val="bg1"/>
          </a:solidFill>
          <a:ln w="19050">
            <a:solidFill>
              <a:srgbClr val="C9D1DA"/>
            </a:solidFill>
          </a:ln>
        </p:spPr>
        <p:txBody>
          <a:bodyPr wrap="square" lIns="114300" tIns="63500" rIns="114300" bIns="635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🔔 </a:t>
            </a:r>
            <a:pPr algn="l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Alert</a:t>
            </a:r>
            <a:endParaRPr lang="en-US" sz="1425" dirty="0"/>
          </a:p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fim da janela, dose presente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7877175" y="2524125"/>
            <a:ext cx="1771650" cy="628650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9050">
            <a:solidFill>
              <a:srgbClr val="C9D1DA"/>
            </a:solidFill>
          </a:ln>
        </p:spPr>
        <p:txBody>
          <a:bodyPr wrap="square" lIns="114300" tIns="63500" rIns="114300" bIns="635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⚠️ </a:t>
            </a:r>
            <a:pPr algn="l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NotLoaded</a:t>
            </a:r>
            <a:endParaRPr lang="en-US" sz="1425" dirty="0"/>
          </a:p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já estava vazio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9734550" y="2524125"/>
            <a:ext cx="1771650" cy="628650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9050">
            <a:solidFill>
              <a:srgbClr val="C9D1DA"/>
            </a:solidFill>
          </a:ln>
        </p:spPr>
        <p:txBody>
          <a:bodyPr wrap="square" lIns="114300" tIns="63500" rIns="114300" bIns="635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❌ </a:t>
            </a:r>
            <a:pPr algn="l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Fault</a:t>
            </a:r>
            <a:endParaRPr lang="en-US" sz="1425" dirty="0"/>
          </a:p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sem leitura válida</a:t>
            </a:r>
            <a:endParaRPr lang="en-US" sz="1425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333750"/>
            <a:ext cx="108204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presença é verificada 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na janela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: o cuidador repõe a dose quando quiser.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Após o alerta, continua observando por 30 min → ✅ 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retirada com atraso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75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Hora pelo 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SNTP</a:t>
            </a:r>
            <a:pPr indent="0" marL="0">
              <a:lnSpc>
                <a:spcPct val="112000"/>
              </a:lnSpc>
              <a:spcAft>
                <a:spcPts val="75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; a janela do dia seguinte é armada sozinha; após reinício, a janela de hoje é retomada.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PROTOCOLOS E INTERFACE</a:t>
            </a:r>
            <a:endParaRPr lang="en-US" sz="13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762000"/>
            <a:ext cx="108204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Do painel no PC ao celular do cuidador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chemeClr val="accent2"/>
                </a:solidFill>
              </a:rPr>
              <a:t>Juliana</a:t>
            </a:r>
            <a:endParaRPr lang="en-US" sz="1125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5900"/>
          <a:ext cx="5219700" cy="914400"/>
        </p:xfrm>
        <a:graphic>
          <a:graphicData uri="http://schemas.openxmlformats.org/drawingml/2006/table">
            <a:tbl>
              <a:tblPr/>
              <a:tblGrid>
                <a:gridCol w="1762125"/>
                <a:gridCol w="3457575"/>
              </a:tblGrid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Enlace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Protocolo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PC ↔ ESP32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USB-UART 115200, </a:t>
                      </a:r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JSON Lines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ESP32 ↔ câmera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SCCB (I²C) + DVP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Rede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Wi-Fi 802.11 WPA2, DHCP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Hora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SNTP (UDP 123)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Aviso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HTTPS / TLS</a:t>
                      </a:r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 → Telegram Bot API</a:t>
                      </a:r>
                      <a:endParaRPr lang="en-US" sz="1425" dirty="0"/>
                    </a:p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sendMessage</a:t>
                      </a:r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sendPhoto</a:t>
                      </a:r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 (multipart)</a:t>
                      </a:r>
                      <a:endParaRPr lang="en-US" sz="1425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5800" y="4000500"/>
            <a:ext cx="5219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Painel (Python/Tkinter):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 Câmera · Agenda · Wi-Fi e Telegram. Roda no Windows e no macOS.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286500" y="1485900"/>
            <a:ext cx="5219700" cy="1028700"/>
          </a:xfrm>
          <a:prstGeom prst="roundRect">
            <a:avLst>
              <a:gd name="adj" fmla="val 11111"/>
            </a:avLst>
          </a:prstGeom>
          <a:solidFill>
            <a:srgbClr val="EFFDDE"/>
          </a:solidFill>
          <a:ln w="9525">
            <a:solidFill>
              <a:srgbClr val="CFE9B8"/>
            </a:solidFill>
          </a:ln>
        </p:spPr>
        <p:txBody>
          <a:bodyPr wrap="square" lIns="139700" tIns="76200" rIns="139700" bIns="76200" rtlCol="0" anchor="ctr"/>
          <a:lstStyle/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🔌 </a:t>
            </a:r>
            <a:pPr algn="l" indent="0" marL="0">
              <a:buNone/>
            </a:pPr>
            <a:r>
              <a:rPr lang="en-US" sz="1425" b="1" dirty="0">
                <a:solidFill>
                  <a:schemeClr val="tx1"/>
                </a:solidFill>
              </a:rPr>
              <a:t>Auditor ligado</a:t>
            </a:r>
            <a:endParaRPr lang="en-US" sz="1425" dirty="0"/>
          </a:p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🕒 Relógio: seg 12/10, 07:58 (internet)</a:t>
            </a:r>
            <a:endParaRPr lang="en-US" sz="1425" dirty="0"/>
          </a:p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✅ Próxima verificação: </a:t>
            </a:r>
            <a:pPr algn="l" indent="0" marL="0">
              <a:buNone/>
            </a:pPr>
            <a:r>
              <a:rPr lang="en-US" sz="1425" b="1" dirty="0">
                <a:solidFill>
                  <a:schemeClr val="tx1"/>
                </a:solidFill>
              </a:rPr>
              <a:t>seg 12/10 às 08:00</a:t>
            </a:r>
            <a:endParaRPr lang="en-US" sz="1425" dirty="0"/>
          </a:p>
        </p:txBody>
      </p:sp>
      <p:sp>
        <p:nvSpPr>
          <p:cNvPr id="8" name="Text 5"/>
          <p:cNvSpPr/>
          <p:nvPr/>
        </p:nvSpPr>
        <p:spPr>
          <a:xfrm>
            <a:off x="6286500" y="2628900"/>
            <a:ext cx="5219700" cy="762000"/>
          </a:xfrm>
          <a:prstGeom prst="roundRect">
            <a:avLst>
              <a:gd name="adj" fmla="val 15000"/>
            </a:avLst>
          </a:prstGeom>
          <a:solidFill>
            <a:srgbClr val="EFFDDE"/>
          </a:solidFill>
          <a:ln w="9525">
            <a:solidFill>
              <a:srgbClr val="CFE9B8"/>
            </a:solidFill>
          </a:ln>
        </p:spPr>
        <p:txBody>
          <a:bodyPr wrap="square" lIns="139700" tIns="76200" rIns="139700" bIns="76200" rtlCol="0" anchor="ctr"/>
          <a:lstStyle/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⏰ </a:t>
            </a:r>
            <a:pPr algn="l" indent="0" marL="0">
              <a:buNone/>
            </a:pPr>
            <a:r>
              <a:rPr lang="en-US" sz="1425" b="1" dirty="0">
                <a:solidFill>
                  <a:schemeClr val="tx1"/>
                </a:solidFill>
              </a:rPr>
              <a:t>Hora da dose: 08:00</a:t>
            </a:r>
            <a:endParaRPr lang="en-US" sz="1425" dirty="0"/>
          </a:p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📷 Verificando o compartimento por até 30 min.</a:t>
            </a:r>
            <a:endParaRPr lang="en-US" sz="1425" dirty="0"/>
          </a:p>
        </p:txBody>
      </p:sp>
      <p:sp>
        <p:nvSpPr>
          <p:cNvPr id="9" name="Text 6"/>
          <p:cNvSpPr/>
          <p:nvPr/>
        </p:nvSpPr>
        <p:spPr>
          <a:xfrm>
            <a:off x="6286500" y="3505200"/>
            <a:ext cx="5219700" cy="723900"/>
          </a:xfrm>
          <a:prstGeom prst="roundRect">
            <a:avLst>
              <a:gd name="adj" fmla="val 15789"/>
            </a:avLst>
          </a:prstGeom>
          <a:solidFill>
            <a:srgbClr val="EFFDDE"/>
          </a:solidFill>
          <a:ln w="9525">
            <a:solidFill>
              <a:srgbClr val="CFE9B8"/>
            </a:solidFill>
          </a:ln>
        </p:spPr>
        <p:txBody>
          <a:bodyPr wrap="square" lIns="139700" tIns="76200" rIns="139700" bIns="76200" rtlCol="0" anchor="ctr"/>
          <a:lstStyle/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🔔 </a:t>
            </a:r>
            <a:pPr algn="l" indent="0" marL="0">
              <a:buNone/>
            </a:pPr>
            <a:r>
              <a:rPr lang="en-US" sz="1425" b="1" dirty="0">
                <a:solidFill>
                  <a:schemeClr val="tx1"/>
                </a:solidFill>
              </a:rPr>
              <a:t>Dose NÃO tomada</a:t>
            </a:r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 · 💊 08:00 · ⏰ ainda lá às 08:30 </a:t>
            </a:r>
            <a:pPr algn="l" indent="0" marL="0">
              <a:buNone/>
            </a:pPr>
            <a:r>
              <a:rPr lang="en-US" sz="1425" i="1" dirty="0">
                <a:solidFill>
                  <a:schemeClr val="tx1"/>
                </a:solidFill>
              </a:rPr>
              <a:t>+ foto</a:t>
            </a:r>
            <a:endParaRPr lang="en-US" sz="1425" dirty="0"/>
          </a:p>
        </p:txBody>
      </p:sp>
      <p:sp>
        <p:nvSpPr>
          <p:cNvPr id="10" name="Text 7"/>
          <p:cNvSpPr/>
          <p:nvPr/>
        </p:nvSpPr>
        <p:spPr>
          <a:xfrm>
            <a:off x="6286500" y="4343400"/>
            <a:ext cx="5219700" cy="495300"/>
          </a:xfrm>
          <a:prstGeom prst="roundRect">
            <a:avLst>
              <a:gd name="adj" fmla="val 23077"/>
            </a:avLst>
          </a:prstGeom>
          <a:solidFill>
            <a:srgbClr val="EFFDDE"/>
          </a:solidFill>
          <a:ln w="9525">
            <a:solidFill>
              <a:srgbClr val="CFE9B8"/>
            </a:solidFill>
          </a:ln>
        </p:spPr>
        <p:txBody>
          <a:bodyPr wrap="square" lIns="139700" tIns="76200" rIns="139700" bIns="76200" rtlCol="0" anchor="ctr"/>
          <a:lstStyle/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✅ </a:t>
            </a:r>
            <a:pPr algn="l" indent="0" marL="0">
              <a:buNone/>
            </a:pPr>
            <a:r>
              <a:rPr lang="en-US" sz="1425" b="1" dirty="0">
                <a:solidFill>
                  <a:schemeClr val="tx1"/>
                </a:solidFill>
              </a:rPr>
              <a:t>Dose tomada com atraso</a:t>
            </a:r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 · 🕒 confirmada às 08:41</a:t>
            </a:r>
            <a:endParaRPr lang="en-US" sz="14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VISÃO COMPUTACIONAL EMBARCADA</a:t>
            </a:r>
            <a:endParaRPr lang="en-US" sz="13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762000"/>
            <a:ext cx="108204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“O compartimento está diferente de vazio?”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chemeClr val="accent2"/>
                </a:solidFill>
              </a:rPr>
              <a:t>Henrique</a:t>
            </a:r>
            <a:endParaRPr lang="en-US" sz="112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5900"/>
            <a:ext cx="5467350" cy="281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JPEG 160 × 120 → cinza → ROI em </a:t>
            </a:r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32 × 32</a:t>
            </a:r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células; 2 quadros estáveis por leitura.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Subtração de fundo:</a:t>
            </a:r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só o vazio é calibrado; brilho global compensado pela mediana.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Células que mudam acima de max(20, ruído + 8) → </a:t>
            </a:r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mancha ≥ 6 células = dose</a:t>
            </a:r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Qualquer comprimido, em qualquer posição. Sem treinamento.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419600"/>
          <a:ext cx="5467350" cy="914400"/>
        </p:xfrm>
        <a:graphic>
          <a:graphicData uri="http://schemas.openxmlformats.org/drawingml/2006/table">
            <a:tbl>
              <a:tblPr/>
              <a:tblGrid>
                <a:gridCol w="1428750"/>
                <a:gridCol w="1924050"/>
                <a:gridCol w="2114550"/>
              </a:tblGrid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Teste (11/10)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Antes: cheio × vazio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Agora: só vazio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Calibrado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PRESENTE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PRESENTE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 (mancha 59)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Vazio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VAZIO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VAZIO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 (mancha 0)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Outra cápsula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inconclusivo ✘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PRESENTE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 (50)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Deslocado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inconclusivo ✘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PRESENTE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 (66)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7" name="Image 0" descr="Vazio, com comprimido e mancha detect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4150" y="1485900"/>
            <a:ext cx="4972050" cy="12259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534150" y="2807135"/>
            <a:ext cx="49720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Vazio · com comprimido · células alteradas (mancha de 37)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PROTÓTIPO E RESULTADOS</a:t>
            </a:r>
            <a:endParaRPr lang="en-US" sz="13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762000"/>
            <a:ext cx="108204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Funcionando na placa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chemeClr val="accent2"/>
                </a:solidFill>
              </a:rPr>
              <a:t>Henrique</a:t>
            </a:r>
            <a:endParaRPr lang="en-US" sz="1125" dirty="0"/>
          </a:p>
        </p:txBody>
      </p:sp>
      <p:sp>
        <p:nvSpPr>
          <p:cNvPr id="5" name="Shape 3"/>
          <p:cNvSpPr/>
          <p:nvPr/>
        </p:nvSpPr>
        <p:spPr>
          <a:xfrm>
            <a:off x="685800" y="1485900"/>
            <a:ext cx="3467100" cy="314325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C9D1DA"/>
            </a:solidFill>
            <a:prstDash val="solid"/>
          </a:ln>
        </p:spPr>
      </p:sp>
      <p:pic>
        <p:nvPicPr>
          <p:cNvPr id="6" name="Image 0" descr="Foto do protóti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631" y="1485900"/>
            <a:ext cx="2357438" cy="314325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362450" y="1485900"/>
            <a:ext cx="3467100" cy="314325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C9D1DA"/>
            </a:solidFill>
            <a:prstDash val="solid"/>
          </a:ln>
        </p:spPr>
      </p:sp>
      <p:pic>
        <p:nvPicPr>
          <p:cNvPr id="8" name="Image 1" descr="Avisos no Tele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517" y="1485900"/>
            <a:ext cx="1752966" cy="31432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39100" y="1428750"/>
            <a:ext cx="34671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50" b="1" dirty="0">
                <a:solidFill>
                  <a:schemeClr val="accent1"/>
                </a:solidFill>
              </a:rPr>
              <a:t>168–220 ms</a:t>
            </a:r>
            <a:endParaRPr lang="en-US" sz="1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425" dirty="0">
                <a:solidFill>
                  <a:schemeClr val="tx1"/>
                </a:solidFill>
              </a:rPr>
              <a:t>por leitura (meta: 2 s)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039100" y="2362200"/>
            <a:ext cx="34671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50" b="1" dirty="0">
                <a:solidFill>
                  <a:schemeClr val="accent1"/>
                </a:solidFill>
              </a:rPr>
              <a:t>~5 s</a:t>
            </a:r>
            <a:endParaRPr lang="en-US" sz="1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425" dirty="0">
                <a:solidFill>
                  <a:schemeClr val="tx1"/>
                </a:solidFill>
              </a:rPr>
              <a:t>do comando à foto no celular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039100" y="3295650"/>
            <a:ext cx="34671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50" b="1" dirty="0">
                <a:solidFill>
                  <a:schemeClr val="accent1"/>
                </a:solidFill>
              </a:rPr>
              <a:t>429</a:t>
            </a:r>
            <a:endParaRPr lang="en-US" sz="1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425" dirty="0">
                <a:solidFill>
                  <a:schemeClr val="tx1"/>
                </a:solidFill>
              </a:rPr>
              <a:t>verificações automáticas + CI no Ubuntu e no macOS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4800600"/>
            <a:ext cx="1082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25" dirty="0">
                <a:solidFill>
                  <a:schemeClr val="tx1"/>
                </a:solidFill>
              </a:rPr>
              <a:t>Verificado na placa: Wi-Fi e SNTP, câmera, calibração, qualquer comprimido em qualquer posição e o ciclo agendado completo (⏰ → 🔔 → ✅). Vídeo e demonstração a seguir.</a:t>
            </a:r>
            <a:endParaRPr lang="en-US" sz="14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PROBLEMAS ENFRENTADOS</a:t>
            </a:r>
            <a:endParaRPr lang="en-US" sz="13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762000"/>
            <a:ext cx="108204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O que a bancada nos ensinou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chemeClr val="accent2"/>
                </a:solidFill>
              </a:rPr>
              <a:t>Henrique</a:t>
            </a:r>
            <a:endParaRPr lang="en-US" sz="1125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5900"/>
          <a:ext cx="10820400" cy="914400"/>
        </p:xfrm>
        <a:graphic>
          <a:graphicData uri="http://schemas.openxmlformats.org/drawingml/2006/table">
            <a:tbl>
              <a:tblPr/>
              <a:tblGrid>
                <a:gridCol w="3467100"/>
                <a:gridCol w="3676650"/>
                <a:gridCol w="3676650"/>
              </a:tblGrid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</a:rPr>
                        <a:t>Sintoma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</a:rPr>
                        <a:t>Causa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</a:rPr>
                        <a:t>Solução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Câmera não iniciava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Pinagem WROVER KIT, não AI-Thinker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Perfis de pinagem na NVS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Reinício em loop ao ligar o Wi-Fi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Estouro de pilha (sys_evt, cam_task)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Pilhas de 4 KB; câmera no núcleo 1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Telegram falhava no TLS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Só ~31 KB de RAM interna livre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mbedTLS e buffers na PSRAM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Quadros perdidos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Buffer JPEG de 3,8 KB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Buffer fixo de 16 KB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“Cena instável” com tudo parado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Ruído do JPEG (qualidade 12)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Qualidade 6 e média 5×5 no entorno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Remédio pequeno não calibrava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Média dilui ~4% da ROI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Métrica top 10%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Outra cápsula/deslocado: inconclusivo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“Presente” = aquela foto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Só a referência vazio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Integrante com macOS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Scripts só para Windows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Ferramentas em Python + CI no macOS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1435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90" kern="0" dirty="0">
                <a:solidFill>
                  <a:schemeClr val="accent2"/>
                </a:solidFill>
              </a:rPr>
              <a:t>CRONOGRAMA</a:t>
            </a:r>
            <a:endParaRPr lang="en-US" sz="13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762000"/>
            <a:ext cx="108204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</a:rPr>
              <a:t>Adiantados na implementação; falta medir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chemeClr val="accent2"/>
                </a:solidFill>
              </a:rPr>
              <a:t>Henrique</a:t>
            </a:r>
            <a:endParaRPr lang="en-US" sz="1125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5900"/>
          <a:ext cx="5219700" cy="914400"/>
        </p:xfrm>
        <a:graphic>
          <a:graphicData uri="http://schemas.openxmlformats.org/drawingml/2006/table">
            <a:tbl>
              <a:tblPr/>
              <a:tblGrid>
                <a:gridCol w="952500"/>
                <a:gridCol w="1428750"/>
                <a:gridCol w="2838450"/>
              </a:tblGrid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</a:rPr>
                        <a:t>Data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</a:rPr>
                        <a:t>Previsto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</a:rPr>
                        <a:t>Realizado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25/09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Requisitos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+ firmware v1.0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3"/>
                          </a:solidFill>
                        </a:rPr>
                        <a:t>↑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02/10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Arquitetura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+ MVP com Telegram na placa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3"/>
                          </a:solidFill>
                        </a:rPr>
                        <a:t>↑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09/10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Firmware inicial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Calibração, visão revista, macOS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3"/>
                          </a:solidFill>
                        </a:rPr>
                        <a:t>↑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30/10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Fluxo completo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Já pronto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13–27/11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Ensaios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A executar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6"/>
                          </a:solidFill>
                        </a:rPr>
                        <a:t>→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11/12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P2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A executar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6"/>
                          </a:solidFill>
                        </a:rPr>
                        <a:t>→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86500" y="1485900"/>
            <a:ext cx="5219700" cy="251460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9050">
            <a:solidFill>
              <a:schemeClr val="accent1"/>
            </a:solidFill>
          </a:ln>
        </p:spPr>
        <p:txBody>
          <a:bodyPr wrap="square" lIns="203200" tIns="165100" rIns="203200" bIns="16510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725" b="1" dirty="0">
                <a:solidFill>
                  <a:schemeClr val="accent1"/>
                </a:solidFill>
              </a:rPr>
              <a:t>Próximos passos até a P2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Suporte mecânico fixo e iluminação documentada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Testar vários comprimidos e posições na placa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Acurácia: 30 + 30 leituras, 10 oclusões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20 ciclos e 24 h só na fonte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Extensão: organizador semanal</a:t>
            </a:r>
            <a:endParaRPr lang="en-US" sz="14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25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ditor de Medicacao">
  <a:themeElements>
    <a:clrScheme name="Auditor de Medicacao">
      <a:dk1>
        <a:srgbClr val="16202B"/>
      </a:dk1>
      <a:lt1>
        <a:srgbClr val="FFFFFF"/>
      </a:lt1>
      <a:dk2>
        <a:srgbClr val="5B6672"/>
      </a:dk2>
      <a:lt2>
        <a:srgbClr val="EEF4F9"/>
      </a:lt2>
      <a:accent1>
        <a:srgbClr val="1F5F8B"/>
      </a:accent1>
      <a:accent2>
        <a:srgbClr val="2A9D8F"/>
      </a:accent2>
      <a:accent3>
        <a:srgbClr val="2E7D32"/>
      </a:accent3>
      <a:accent4>
        <a:srgbClr val="B26A00"/>
      </a:accent4>
      <a:accent5>
        <a:srgbClr val="B3261E"/>
      </a:accent5>
      <a:accent6>
        <a:srgbClr val="6B7280"/>
      </a:accent6>
      <a:hlink>
        <a:srgbClr val="1F5F8B"/>
      </a:hlink>
      <a:folHlink>
        <a:srgbClr val="5B6672"/>
      </a:folHlink>
    </a:clrScheme>
    <a:fontScheme name="Auditor de Medicaca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P1 — Auditor Visual de Medicação</dc:title>
  <dc:subject>PptxGenJS Presentation</dc:subject>
  <dc:creator>Gabriel Dias Tambelli, Henrique Murakami de Paula, Juliana Marcarini Carloni</dc:creator>
  <cp:lastModifiedBy>Gabriel Dias Tambelli, Henrique Murakami de Paula, Juliana Marcarini Carloni</cp:lastModifiedBy>
  <cp:revision>1</cp:revision>
  <dcterms:created xsi:type="dcterms:W3CDTF">2026-10-13T00:40:59Z</dcterms:created>
  <dcterms:modified xsi:type="dcterms:W3CDTF">2026-10-13T00:40:59Z</dcterms:modified>
</cp:coreProperties>
</file>