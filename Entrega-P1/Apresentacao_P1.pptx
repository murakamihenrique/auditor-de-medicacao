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2038350"/>
            <a:ext cx="108204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75" b="1" spc="150" kern="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75" b="1" spc="150" kern="0" dirty="0">
                <a:solidFill>
                  <a:schemeClr val="tx2"/>
                </a:solidFill>
              </a:rPr>
              <a:t>DISCIPLINA</a:t>
            </a:r>
            <a:endParaRPr lang="en-US" sz="1275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2324100"/>
            <a:ext cx="108204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Título</a:t>
            </a: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14350"/>
            <a:ext cx="10820400" cy="20955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150" kern="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b="1" spc="150" kern="0" dirty="0">
                <a:solidFill>
                  <a:schemeClr val="tx2"/>
                </a:solidFill>
              </a:rPr>
              <a:t>SEÇÃO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2000"/>
            <a:ext cx="10820400" cy="4953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Título</a:t>
            </a: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3238500" y="6477000"/>
            <a:ext cx="571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PCS 3858 · Auditor Visual de Medicação · P1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53700" y="6477000"/>
            <a:ext cx="952500" cy="2095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53700" y="6477000"/>
            <a:ext cx="952500" cy="2095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609600"/>
            <a:ext cx="108204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ESCOLA POLITÉCNICA DA UNIVERSIDADE DE SÃO PAULO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76300"/>
            <a:ext cx="1082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Departamento de Engenharia de Computação e Sistemas Digitais (PCS)</a:t>
            </a:r>
            <a:endParaRPr lang="en-US" sz="1350" dirty="0"/>
          </a:p>
        </p:txBody>
      </p:sp>
      <p:sp>
        <p:nvSpPr>
          <p:cNvPr id="4" name="Text 0"/>
          <p:cNvSpPr/>
          <p:nvPr>
            <p:ph idx="100" type="body" hasCustomPrompt="1"/>
          </p:nvPr>
        </p:nvSpPr>
        <p:spPr>
          <a:xfrm>
            <a:off x="685800" y="2038350"/>
            <a:ext cx="1082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75" b="1" spc="150" kern="0" dirty="0">
                <a:solidFill>
                  <a:schemeClr val="tx2"/>
                </a:solidFill>
              </a:rPr>
              <a:t>PCS 3858 — LABORATÓRIO DE SISTEMAS EMBARCADOS · TURMA 3 · APRESENTAÇÃO P1</a:t>
            </a:r>
            <a:endParaRPr lang="en-US" sz="1275" dirty="0"/>
          </a:p>
        </p:txBody>
      </p:sp>
      <p:sp>
        <p:nvSpPr>
          <p:cNvPr id="5" name="Text 0"/>
          <p:cNvSpPr/>
          <p:nvPr>
            <p:ph idx="101" type="title" hasCustomPrompt="1"/>
          </p:nvPr>
        </p:nvSpPr>
        <p:spPr>
          <a:xfrm>
            <a:off x="685800" y="2324100"/>
            <a:ext cx="1082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Auditor Visual de Medicação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67050"/>
            <a:ext cx="933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950" dirty="0">
                <a:solidFill>
                  <a:schemeClr val="tx2"/>
                </a:solidFill>
              </a:rPr>
              <a:t>Sistema embarcado com ESP32-CAM para verificar a retirada da dose diária de um porta-comprimidos e notificar o cuidador pelo Telegram</a:t>
            </a:r>
            <a:endParaRPr lang="en-US" sz="19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248150"/>
            <a:ext cx="108204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Gabriel Dias Tambelli — NUSP 12551370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Henrique Murakami de Paula — NUSP 12551154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Juliana Marcarini Carloni — NUSP 12553538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334000"/>
            <a:ext cx="1082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Prof. Dr. Carlos Eduardo Cugnasca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581650"/>
            <a:ext cx="1082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</a:rPr>
              <a:t>São Paulo, 16 de outubro de 2026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14350"/>
            <a:ext cx="10820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tx2"/>
                </a:solidFill>
              </a:rPr>
              <a:t>1 · INTRODUÇÃO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2000"/>
            <a:ext cx="10820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Motivação e proposta do sistema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77000"/>
            <a:ext cx="2476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Gabriel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85900"/>
            <a:ext cx="52197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6700" indent="-266700">
              <a:lnSpc>
                <a:spcPct val="112000"/>
              </a:lnSpc>
              <a:spcAft>
                <a:spcPts val="75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 não adesão ao tratamento medicamentoso é frequente: mais de </a:t>
            </a:r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50%</a:t>
            </a:r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dos pacientes crônicos e idosos não seguem a prescrição.</a:t>
            </a:r>
            <a:endParaRPr lang="en-US" sz="1700" dirty="0"/>
          </a:p>
          <a:p>
            <a:pPr marL="266700" indent="-266700">
              <a:lnSpc>
                <a:spcPct val="112000"/>
              </a:lnSpc>
              <a:spcAft>
                <a:spcPts val="75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Dispensadores automáticos têm custo elevado e substituem o porta-comprimidos que o paciente já usa.</a:t>
            </a:r>
            <a:endParaRPr lang="en-US" sz="1700" dirty="0"/>
          </a:p>
          <a:p>
            <a:pPr marL="266700" indent="-266700">
              <a:lnSpc>
                <a:spcPct val="112000"/>
              </a:lnSpc>
              <a:spcAft>
                <a:spcPts val="75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Proposta:</a:t>
            </a:r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dispositivo passivo que observa, por câmera, um porta-comprimidos comum.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286500" y="1485900"/>
            <a:ext cx="5219700" cy="2857500"/>
          </a:xfrm>
          <a:prstGeom prst="roundRect">
            <a:avLst>
              <a:gd name="adj" fmla="val 1333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203200" tIns="165100" rIns="203200" bIns="16510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50" b="1" dirty="0">
                <a:solidFill>
                  <a:schemeClr val="accent1"/>
                </a:solidFill>
              </a:rPr>
              <a:t>Funções do protótipo</a:t>
            </a:r>
            <a:endParaRPr lang="en-US" sz="1425" dirty="0"/>
          </a:p>
          <a:p>
            <a:pPr algn="l" marL="266700" indent="-2667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Captura imagens do compartimento no horário programado.</a:t>
            </a:r>
            <a:endParaRPr lang="en-US" sz="1425" dirty="0"/>
          </a:p>
          <a:p>
            <a:pPr algn="l" marL="266700" indent="-2667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Classifica o ciclo como </a:t>
            </a:r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retirada</a:t>
            </a:r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, </a:t>
            </a:r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não retirada</a:t>
            </a:r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 ou </a:t>
            </a:r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inconclusivo</a:t>
            </a:r>
            <a:pPr algn="l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425" dirty="0"/>
          </a:p>
          <a:p>
            <a:pPr algn="l" marL="266700" indent="-2667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Notifica o cuidador pelo Telegram, com foto quando é necessária conferência.</a:t>
            </a:r>
            <a:endParaRPr lang="en-US" sz="1425" dirty="0"/>
          </a:p>
          <a:p>
            <a:pPr algn="l" indent="0" marL="0">
              <a:spcBef>
                <a:spcPts val="800"/>
              </a:spcBef>
              <a:buNone/>
            </a:pPr>
            <a:r>
              <a:rPr lang="en-US" sz="1275" dirty="0">
                <a:solidFill>
                  <a:schemeClr val="tx2"/>
                </a:solidFill>
              </a:rPr>
              <a:t>Limitação de escopo: o sistema verifica o compartimento; não identifica o medicamento nem comprova a ingestão.</a:t>
            </a:r>
            <a:endParaRPr lang="en-US" sz="142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53700" y="6477000"/>
            <a:ext cx="952500" cy="2095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14350"/>
            <a:ext cx="10820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tx2"/>
                </a:solidFill>
              </a:rPr>
              <a:t>1 · INTRODUÇÃO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2000"/>
            <a:ext cx="10820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Evolução do escopo no modelo espiral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77000"/>
            <a:ext cx="2476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Gabriel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85900"/>
          <a:ext cx="10820400" cy="914400"/>
        </p:xfrm>
        <a:graphic>
          <a:graphicData uri="http://schemas.openxmlformats.org/drawingml/2006/table">
            <a:tbl>
              <a:tblPr/>
              <a:tblGrid>
                <a:gridCol w="990600"/>
                <a:gridCol w="2438400"/>
                <a:gridCol w="3952875"/>
                <a:gridCol w="3438525"/>
              </a:tblGrid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chemeClr val="tx1"/>
                          </a:solidFill>
                        </a:rPr>
                        <a:t>Aspecto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chemeClr val="tx1"/>
                          </a:solidFill>
                        </a:rPr>
                        <a:t>Proposta (set)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chemeClr val="tx1"/>
                          </a:solidFill>
                        </a:rPr>
                        <a:t>Plano (Tarefa 02)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chemeClr val="tx1"/>
                          </a:solidFill>
                        </a:rPr>
                        <a:t>MVP atual (out)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chemeClr val="tx1"/>
                          </a:solidFill>
                        </a:rPr>
                        <a:t>Placa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chemeClr val="tx1"/>
                          </a:solidFill>
                        </a:rPr>
                        <a:t>XIAO ESP32-S3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chemeClr val="tx1"/>
                          </a:solidFill>
                        </a:rPr>
                        <a:t>ESP32-S3-ETH + câmera avulsa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chemeClr val="tx1"/>
                          </a:solidFill>
                        </a:rPr>
                        <a:t>ESP32-CAM RoboCore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chemeClr val="tx1"/>
                          </a:solidFill>
                        </a:rPr>
                        <a:t>Visão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chemeClr val="tx1"/>
                          </a:solidFill>
                        </a:rPr>
                        <a:t>CNN (TinyML)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chemeClr val="tx1"/>
                          </a:solidFill>
                        </a:rPr>
                        <a:t>Referências cheio/vazio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chemeClr val="tx1"/>
                          </a:solidFill>
                        </a:rPr>
                        <a:t>Só a referência vazio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chemeClr val="tx1"/>
                          </a:solidFill>
                        </a:rPr>
                        <a:t>Hora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chemeClr val="tx1"/>
                          </a:solidFill>
                        </a:rPr>
                        <a:t>RTC DS3231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chemeClr val="tx1"/>
                          </a:solidFill>
                        </a:rPr>
                        <a:t>Manual pela serial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chemeClr val="tx1"/>
                          </a:solidFill>
                        </a:rPr>
                        <a:t>SNTP (Internet)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chemeClr val="tx1"/>
                          </a:solidFill>
                        </a:rPr>
                        <a:t>Alerta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chemeClr val="tx1"/>
                          </a:solidFill>
                        </a:rPr>
                        <a:t>Wi-Fi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chemeClr val="tx1"/>
                          </a:solidFill>
                        </a:rPr>
                        <a:t>Buzzer + botão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chemeClr val="tx1"/>
                          </a:solidFill>
                        </a:rPr>
                        <a:t>Telegram com foto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chemeClr val="tx1"/>
                          </a:solidFill>
                        </a:rPr>
                        <a:t>Uso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chemeClr val="tx1"/>
                          </a:solidFill>
                        </a:rPr>
                        <a:t>Bateria, deep sleep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chemeClr val="tx1"/>
                          </a:solidFill>
                        </a:rPr>
                        <a:t>PC conectado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chemeClr val="tx1"/>
                          </a:solidFill>
                        </a:rPr>
                        <a:t>Só na fonte, sem PC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chemeClr val="tx1"/>
                          </a:solidFill>
                        </a:rPr>
                        <a:t>Caixa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chemeClr val="tx1"/>
                          </a:solidFill>
                        </a:rPr>
                        <a:t>7 dias × 3 doses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chemeClr val="tx1"/>
                          </a:solidFill>
                        </a:rPr>
                        <a:t>1 compartimento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chemeClr val="tx1"/>
                          </a:solidFill>
                        </a:rPr>
                        <a:t>1 compartimento, 1 dose/dia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85800" y="4191000"/>
            <a:ext cx="108204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75" b="1" dirty="0">
                <a:solidFill>
                  <a:schemeClr val="tx1"/>
                </a:solidFill>
              </a:rPr>
              <a:t>Justificativas:</a:t>
            </a:r>
            <a:pPr indent="0" marL="0">
              <a:lnSpc>
                <a:spcPct val="112000"/>
              </a:lnSpc>
              <a:buNone/>
            </a:pPr>
            <a:r>
              <a:rPr lang="en-US" sz="1575" dirty="0">
                <a:solidFill>
                  <a:schemeClr val="tx1"/>
                </a:solidFill>
              </a:rPr>
              <a:t> ausência de conjunto de dados rotulado para treinar uma CNN; a câmera integrada elimina o risco de compatibilidade; requisito de notificação </a:t>
            </a:r>
            <a:pPr indent="0" marL="0">
              <a:lnSpc>
                <a:spcPct val="112000"/>
              </a:lnSpc>
              <a:buNone/>
            </a:pPr>
            <a:r>
              <a:rPr lang="en-US" sz="1575" b="1" dirty="0">
                <a:solidFill>
                  <a:schemeClr val="tx1"/>
                </a:solidFill>
              </a:rPr>
              <a:t>remota</a:t>
            </a:r>
            <a:pPr indent="0" marL="0">
              <a:lnSpc>
                <a:spcPct val="112000"/>
              </a:lnSpc>
              <a:buNone/>
            </a:pPr>
            <a:r>
              <a:rPr lang="en-US" sz="1575" dirty="0">
                <a:solidFill>
                  <a:schemeClr val="tx1"/>
                </a:solidFill>
              </a:rPr>
              <a:t> do cuidador.</a:t>
            </a:r>
            <a:endParaRPr lang="en-US" sz="15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53700" y="6477000"/>
            <a:ext cx="952500" cy="2095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14350"/>
            <a:ext cx="10820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tx2"/>
                </a:solidFill>
              </a:rPr>
              <a:t>2 · PROJETO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2000"/>
            <a:ext cx="10820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Arquitetura de hardware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77000"/>
            <a:ext cx="2476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Gabriel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524000"/>
            <a:ext cx="2085975" cy="1000125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25" dirty="0">
                <a:solidFill>
                  <a:schemeClr val="tx1"/>
                </a:solidFill>
              </a:rPr>
              <a:t>Fonte USB</a:t>
            </a:r>
            <a:endParaRPr lang="en-US" sz="1425" dirty="0"/>
          </a:p>
          <a:p>
            <a:pPr algn="ctr"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5 V / 2 A</a:t>
            </a:r>
            <a:endParaRPr lang="en-US" sz="1425" dirty="0"/>
          </a:p>
        </p:txBody>
      </p:sp>
      <p:sp>
        <p:nvSpPr>
          <p:cNvPr id="6" name="Text 4"/>
          <p:cNvSpPr txBox="1"/>
          <p:nvPr/>
        </p:nvSpPr>
        <p:spPr>
          <a:xfrm>
            <a:off x="2771775" y="1524000"/>
            <a:ext cx="45720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28975" y="1524000"/>
            <a:ext cx="2076450" cy="1000125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25" dirty="0">
                <a:solidFill>
                  <a:schemeClr val="tx1"/>
                </a:solidFill>
              </a:rPr>
              <a:t>Gravador</a:t>
            </a:r>
            <a:endParaRPr lang="en-US" sz="1425" dirty="0"/>
          </a:p>
          <a:p>
            <a:pPr algn="ctr"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CH340</a:t>
            </a:r>
            <a:endParaRPr lang="en-US" sz="1425" dirty="0"/>
          </a:p>
          <a:p>
            <a:pPr algn="ctr" indent="0" marL="0">
              <a:buNone/>
            </a:pPr>
            <a:r>
              <a:rPr lang="en-US" sz="1425" dirty="0">
                <a:solidFill>
                  <a:schemeClr val="tx1"/>
                </a:solidFill>
              </a:rPr>
              <a:t>USB ↔ UART</a:t>
            </a:r>
            <a:endParaRPr lang="en-US" sz="1425" dirty="0"/>
          </a:p>
        </p:txBody>
      </p:sp>
      <p:sp>
        <p:nvSpPr>
          <p:cNvPr id="8" name="Text 6"/>
          <p:cNvSpPr txBox="1"/>
          <p:nvPr/>
        </p:nvSpPr>
        <p:spPr>
          <a:xfrm>
            <a:off x="5305425" y="1524000"/>
            <a:ext cx="44767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753100" y="1524000"/>
            <a:ext cx="3209925" cy="1000125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ESP32-D0WD-V3</a:t>
            </a:r>
            <a:endParaRPr lang="en-US" sz="1425" dirty="0"/>
          </a:p>
          <a:p>
            <a:pPr algn="ctr" indent="0" marL="0">
              <a:buNone/>
            </a:pPr>
            <a:r>
              <a:rPr lang="en-US" sz="1425" dirty="0">
                <a:solidFill>
                  <a:schemeClr val="tx1"/>
                </a:solidFill>
              </a:rPr>
              <a:t>2 × LX6 240 MHz · 520 KB SRAM</a:t>
            </a:r>
            <a:endParaRPr lang="en-US" sz="1425" dirty="0"/>
          </a:p>
          <a:p>
            <a:pPr algn="ctr" indent="0" marL="0">
              <a:buNone/>
            </a:pPr>
            <a:r>
              <a:rPr lang="en-US" sz="1425" dirty="0">
                <a:solidFill>
                  <a:schemeClr val="tx1"/>
                </a:solidFill>
              </a:rPr>
              <a:t>PSRAM 8 MB · Flash 16 MB · Wi-Fi</a:t>
            </a:r>
            <a:endParaRPr lang="en-US" sz="1425" dirty="0"/>
          </a:p>
        </p:txBody>
      </p:sp>
      <p:sp>
        <p:nvSpPr>
          <p:cNvPr id="10" name="Text 8"/>
          <p:cNvSpPr txBox="1"/>
          <p:nvPr/>
        </p:nvSpPr>
        <p:spPr>
          <a:xfrm>
            <a:off x="8963025" y="1524000"/>
            <a:ext cx="447675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410700" y="1524000"/>
            <a:ext cx="2095500" cy="1000125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chemeClr val="accent1"/>
                </a:solidFill>
              </a:rPr>
              <a:t>OV2640</a:t>
            </a:r>
            <a:endParaRPr lang="en-US" sz="1425" dirty="0"/>
          </a:p>
          <a:p>
            <a:pPr algn="ctr" indent="0" marL="0">
              <a:buNone/>
            </a:pPr>
            <a:r>
              <a:rPr lang="en-US" sz="1425" dirty="0">
                <a:solidFill>
                  <a:schemeClr val="tx1"/>
                </a:solidFill>
              </a:rPr>
              <a:t>DVP 8 bits + SCCB</a:t>
            </a:r>
            <a:endParaRPr lang="en-US" sz="1425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609850"/>
            <a:ext cx="10820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Figura 1 — Diagrama de blocos do hardware (placa ESP32-CAM RoboCore com gravador integrado).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067050"/>
            <a:ext cx="52197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6700" indent="-266700">
              <a:lnSpc>
                <a:spcPct val="112000"/>
              </a:lnSpc>
              <a:spcAft>
                <a:spcPts val="75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Placa conferida em bancada com o esptool: </a:t>
            </a:r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mais memória</a:t>
            </a:r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do que o anunciado (16 MB de flash e PSRAM).</a:t>
            </a:r>
            <a:endParaRPr lang="en-US" sz="1700" dirty="0"/>
          </a:p>
          <a:p>
            <a:pPr marL="266700" indent="-266700">
              <a:lnSpc>
                <a:spcPct val="112000"/>
              </a:lnSpc>
              <a:spcAft>
                <a:spcPts val="75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 câmera </a:t>
            </a:r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não</a:t>
            </a:r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segue a pinagem AI-Thinker: o clock está no GPIO21 (pinagem WROVER KIT).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286500" y="3067050"/>
            <a:ext cx="52197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6700" indent="-266700">
              <a:lnSpc>
                <a:spcPct val="112000"/>
              </a:lnSpc>
              <a:spcAft>
                <a:spcPts val="75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Pinagem selecionada por </a:t>
            </a:r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perfil salvo na NVS</a:t>
            </a:r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, sem recompilação.</a:t>
            </a:r>
            <a:endParaRPr lang="en-US" sz="1700" dirty="0"/>
          </a:p>
          <a:p>
            <a:pPr marL="266700" indent="-266700">
              <a:lnSpc>
                <a:spcPct val="112000"/>
              </a:lnSpc>
              <a:spcAft>
                <a:spcPts val="75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Fonte de 2 A: Wi-Fi e câmera em operação simultânea geram picos de corrente (risco de </a:t>
            </a:r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700" i="1" dirty="0">
                <a:solidFill>
                  <a:schemeClr val="tx1"/>
                </a:solidFill>
              </a:rPr>
              <a:t>brownout</a:t>
            </a:r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).</a:t>
            </a:r>
            <a:endParaRPr lang="en-US" sz="1700" dirty="0"/>
          </a:p>
          <a:p>
            <a:pPr marL="266700" indent="-266700">
              <a:lnSpc>
                <a:spcPct val="112000"/>
              </a:lnSpc>
              <a:spcAft>
                <a:spcPts val="75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Câmera </a:t>
            </a:r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fixa</a:t>
            </a:r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sobre o compartimento.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53700" y="6477000"/>
            <a:ext cx="952500" cy="2095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14350"/>
            <a:ext cx="10820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tx2"/>
                </a:solidFill>
              </a:rPr>
              <a:t>2 · PROJETO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2000"/>
            <a:ext cx="10820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Requisitos e situação atual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77000"/>
            <a:ext cx="2476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Juliana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85900"/>
          <a:ext cx="5219700" cy="914400"/>
        </p:xfrm>
        <a:graphic>
          <a:graphicData uri="http://schemas.openxmlformats.org/drawingml/2006/table">
            <a:tbl>
              <a:tblPr/>
              <a:tblGrid>
                <a:gridCol w="666750"/>
                <a:gridCol w="3352800"/>
                <a:gridCol w="1200150"/>
              </a:tblGrid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Requisito funcional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Situação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RF01</a:t>
                      </a:r>
                      <a:endParaRPr lang="en-US" sz="120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Configurar horário, Wi-Fi e Telegram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3"/>
                          </a:solidFill>
                        </a:rPr>
                        <a:t>VERIFICADO</a:t>
                      </a:r>
                      <a:endParaRPr lang="en-US" sz="10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RF02</a:t>
                      </a:r>
                      <a:endParaRPr lang="en-US" sz="120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Calibrar ROI e referência do vazio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3"/>
                          </a:solidFill>
                        </a:rPr>
                        <a:t>VERIFICADO</a:t>
                      </a:r>
                      <a:endParaRPr lang="en-US" sz="10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RF03</a:t>
                      </a:r>
                      <a:endParaRPr lang="en-US" sz="120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Verificação diária automática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4"/>
                          </a:solidFill>
                        </a:rPr>
                        <a:t>IMPLEMENTADO</a:t>
                      </a:r>
                      <a:endParaRPr lang="en-US" sz="10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RF04</a:t>
                      </a:r>
                      <a:endParaRPr lang="en-US" sz="120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Qualquer comprimido, qualquer posição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3"/>
                          </a:solidFill>
                        </a:rPr>
                        <a:t>VERIFICADO</a:t>
                      </a:r>
                      <a:endParaRPr lang="en-US" sz="10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RF05</a:t>
                      </a:r>
                      <a:endParaRPr lang="en-US" sz="120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Retirada só com evidência persistente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4"/>
                          </a:solidFill>
                        </a:rPr>
                        <a:t>IMPLEMENTADO</a:t>
                      </a:r>
                      <a:endParaRPr lang="en-US" sz="10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RF10</a:t>
                      </a:r>
                      <a:endParaRPr lang="en-US" sz="120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Reinício sem inferir retirada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3"/>
                          </a:solidFill>
                        </a:rPr>
                        <a:t>VERIFICADO</a:t>
                      </a:r>
                      <a:endParaRPr lang="en-US" sz="10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RF12</a:t>
                      </a:r>
                      <a:endParaRPr lang="en-US" sz="120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Notificação remota com foto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3"/>
                          </a:solidFill>
                        </a:rPr>
                        <a:t>VERIFICADO</a:t>
                      </a:r>
                      <a:endParaRPr lang="en-US" sz="10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6500" y="1485900"/>
          <a:ext cx="5219700" cy="914400"/>
        </p:xfrm>
        <a:graphic>
          <a:graphicData uri="http://schemas.openxmlformats.org/drawingml/2006/table">
            <a:tbl>
              <a:tblPr/>
              <a:tblGrid>
                <a:gridCol w="666750"/>
                <a:gridCol w="3352800"/>
                <a:gridCol w="1200150"/>
              </a:tblGrid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ID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Requisito não funcional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Situação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RNF01</a:t>
                      </a:r>
                      <a:endParaRPr lang="en-US" sz="120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Processamento embarcado no ESP32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3"/>
                          </a:solidFill>
                        </a:rPr>
                        <a:t>VERIFICADO</a:t>
                      </a:r>
                      <a:endParaRPr lang="en-US" sz="10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RNF02</a:t>
                      </a:r>
                      <a:endParaRPr lang="en-US" sz="120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Leitura ≤ 2 s (medido: </a:t>
                      </a:r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168–220 ms</a:t>
                      </a:r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3"/>
                          </a:solidFill>
                        </a:rPr>
                        <a:t>VERIFICADO</a:t>
                      </a:r>
                      <a:endParaRPr lang="en-US" sz="10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RNF03</a:t>
                      </a:r>
                      <a:endParaRPr lang="en-US" sz="120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≥ 90% de acerto por classe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6"/>
                          </a:solidFill>
                        </a:rPr>
                        <a:t>PENDENTE</a:t>
                      </a:r>
                      <a:endParaRPr lang="en-US" sz="10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RNF06</a:t>
                      </a:r>
                      <a:endParaRPr lang="en-US" sz="120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20 ciclos sem reinício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6"/>
                          </a:solidFill>
                        </a:rPr>
                        <a:t>PENDENTE</a:t>
                      </a:r>
                      <a:endParaRPr lang="en-US" sz="10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RNF09</a:t>
                      </a:r>
                      <a:endParaRPr lang="en-US" sz="120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Senhas e token fora dos registros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3"/>
                          </a:solidFill>
                        </a:rPr>
                        <a:t>VERIFICADO</a:t>
                      </a:r>
                      <a:endParaRPr lang="en-US" sz="10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RNF12</a:t>
                      </a:r>
                      <a:endParaRPr lang="en-US" sz="120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Ferramentas no Windows e no macOS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3"/>
                          </a:solidFill>
                        </a:rPr>
                        <a:t>VERIFICADO</a:t>
                      </a:r>
                      <a:endParaRPr lang="en-US" sz="10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85800" y="4533900"/>
            <a:ext cx="10820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75" dirty="0">
                <a:solidFill>
                  <a:schemeClr val="tx2"/>
                </a:solidFill>
              </a:rPr>
              <a:t>Identificadores conforme o Relatório Técnico (seção 3), que lista os 12 requisitos funcionais e os 12 não funcionais. Pendente = depende de ensaio previsto.</a:t>
            </a:r>
            <a:endParaRPr lang="en-US" sz="12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53700" y="6477000"/>
            <a:ext cx="952500" cy="2095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14350"/>
            <a:ext cx="10820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tx2"/>
                </a:solidFill>
              </a:rPr>
              <a:t>2 · PROJETO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2000"/>
            <a:ext cx="10820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Arquitetura de software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77000"/>
            <a:ext cx="2476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Juliana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85900"/>
            <a:ext cx="52197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6700" indent="-266700">
              <a:lnSpc>
                <a:spcPct val="112000"/>
              </a:lnSpc>
              <a:spcAft>
                <a:spcPts val="75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Núcleo em C++17</a:t>
            </a:r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independente de hardware: visão, agenda e máquina de estados. Testado no PC com </a:t>
            </a:r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311 verificações</a:t>
            </a:r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  <a:p>
            <a:pPr marL="266700" indent="-266700">
              <a:lnSpc>
                <a:spcPct val="112000"/>
              </a:lnSpc>
              <a:spcAft>
                <a:spcPts val="75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Módulos de plataforma: câmera, Wi-Fi/SNTP, Telegram, NVS e eventos.</a:t>
            </a:r>
            <a:endParaRPr lang="en-US" sz="1700" dirty="0"/>
          </a:p>
          <a:p>
            <a:pPr marL="266700" indent="-266700">
              <a:lnSpc>
                <a:spcPct val="112000"/>
              </a:lnSpc>
              <a:spcAft>
                <a:spcPts val="75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Câmera inicializada </a:t>
            </a:r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antes</a:t>
            </a:r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do Wi-Fi, que fragmenta a memória interna.</a:t>
            </a:r>
            <a:endParaRPr lang="en-US" sz="1700" dirty="0"/>
          </a:p>
          <a:p>
            <a:pPr marL="266700" indent="-266700">
              <a:lnSpc>
                <a:spcPct val="112000"/>
              </a:lnSpc>
              <a:spcAft>
                <a:spcPts val="75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Watchdog de 30 s; reconexão do Wi-Fi com espera crescente.</a:t>
            </a:r>
            <a:endParaRPr lang="en-US" sz="1700" dirty="0"/>
          </a:p>
          <a:p>
            <a:pPr marL="266700" indent="-266700">
              <a:lnSpc>
                <a:spcPct val="112000"/>
              </a:lnSpc>
              <a:spcAft>
                <a:spcPts val="75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Envio de avisos desacoplado por fila: a rede não atrasa as capturas.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86500" y="1485900"/>
          <a:ext cx="5219700" cy="914400"/>
        </p:xfrm>
        <a:graphic>
          <a:graphicData uri="http://schemas.openxmlformats.org/drawingml/2006/table">
            <a:tbl>
              <a:tblPr/>
              <a:tblGrid>
                <a:gridCol w="1524000"/>
                <a:gridCol w="3695700"/>
              </a:tblGrid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Tarefa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Função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main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laço de 100 ms: comandos, agenda, leituras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usb_commands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recebe JSON da serial → fila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telegram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fila de 8 avisos, HTTPS, até 20 tentativas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cam_task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DMA dos quadros (núcleo 1)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wifi / lwIP</a:t>
                      </a:r>
                      <a:endParaRPr lang="en-US" sz="13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rede, SNTP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286500" y="3695700"/>
            <a:ext cx="521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Tabela 1 — Tarefas do FreeRTOS (ESP-IDF 5.4.1).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53700" y="6477000"/>
            <a:ext cx="952500" cy="2095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14350"/>
            <a:ext cx="10820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tx2"/>
                </a:solidFill>
              </a:rPr>
              <a:t>2 · PROJETO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2000"/>
            <a:ext cx="10820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Máquina de estados do ciclo diário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77000"/>
            <a:ext cx="2476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Juliana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524000"/>
            <a:ext cx="1952625" cy="142875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25" dirty="0">
                <a:solidFill>
                  <a:schemeClr val="tx1"/>
                </a:solidFill>
              </a:rPr>
              <a:t>Idle</a:t>
            </a:r>
            <a:endParaRPr lang="en-US" sz="1425" dirty="0"/>
          </a:p>
        </p:txBody>
      </p:sp>
      <p:sp>
        <p:nvSpPr>
          <p:cNvPr id="6" name="Text 4"/>
          <p:cNvSpPr txBox="1"/>
          <p:nvPr/>
        </p:nvSpPr>
        <p:spPr>
          <a:xfrm>
            <a:off x="2638425" y="1524000"/>
            <a:ext cx="44767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086100" y="1524000"/>
            <a:ext cx="1952625" cy="142875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25" dirty="0">
                <a:solidFill>
                  <a:schemeClr val="tx1"/>
                </a:solidFill>
              </a:rPr>
              <a:t>Armed</a:t>
            </a:r>
            <a:endParaRPr lang="en-US" sz="1425" dirty="0"/>
          </a:p>
          <a:p>
            <a:pPr algn="ctr" indent="0" marL="0">
              <a:buNone/>
            </a:pPr>
            <a:r>
              <a:rPr lang="en-US" sz="1125" dirty="0">
                <a:solidFill>
                  <a:schemeClr val="tx1"/>
                </a:solidFill>
              </a:rPr>
              <a:t>aguarda horário</a:t>
            </a:r>
            <a:endParaRPr lang="en-US" sz="1425" dirty="0"/>
          </a:p>
        </p:txBody>
      </p:sp>
      <p:sp>
        <p:nvSpPr>
          <p:cNvPr id="8" name="Text 6"/>
          <p:cNvSpPr txBox="1"/>
          <p:nvPr/>
        </p:nvSpPr>
        <p:spPr>
          <a:xfrm>
            <a:off x="5038725" y="1524000"/>
            <a:ext cx="4381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76875" y="1524000"/>
            <a:ext cx="1962150" cy="142875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25" dirty="0">
                <a:solidFill>
                  <a:schemeClr val="tx1"/>
                </a:solidFill>
              </a:rPr>
              <a:t>Monitoring</a:t>
            </a:r>
            <a:endParaRPr lang="en-US" sz="1425" dirty="0"/>
          </a:p>
          <a:p>
            <a:pPr algn="ctr" indent="0" marL="0">
              <a:buNone/>
            </a:pPr>
            <a:r>
              <a:rPr lang="en-US" sz="1125" dirty="0">
                <a:solidFill>
                  <a:schemeClr val="tx1"/>
                </a:solidFill>
              </a:rPr>
              <a:t>leitura a cada 5 s</a:t>
            </a:r>
            <a:endParaRPr lang="en-US" sz="1425" dirty="0"/>
          </a:p>
        </p:txBody>
      </p:sp>
      <p:sp>
        <p:nvSpPr>
          <p:cNvPr id="10" name="Text 8"/>
          <p:cNvSpPr txBox="1"/>
          <p:nvPr/>
        </p:nvSpPr>
        <p:spPr>
          <a:xfrm>
            <a:off x="7439025" y="1524000"/>
            <a:ext cx="4381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877175" y="1524000"/>
            <a:ext cx="1771650" cy="70485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5875">
            <a:solidFill>
              <a:srgbClr val="C9D1DA"/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Removed</a:t>
            </a:r>
            <a:endParaRPr lang="en-US" sz="1425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dose vista, depois 2 leituras vazias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9734550" y="1524000"/>
            <a:ext cx="1771650" cy="70485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5875">
            <a:solidFill>
              <a:srgbClr val="C9D1DA"/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Alert</a:t>
            </a:r>
            <a:endParaRPr lang="en-US" sz="1425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fim da janela com a dose presente</a:t>
            </a:r>
            <a:endParaRPr lang="en-US" sz="1425" dirty="0"/>
          </a:p>
        </p:txBody>
      </p:sp>
      <p:sp>
        <p:nvSpPr>
          <p:cNvPr id="13" name="Text 11"/>
          <p:cNvSpPr/>
          <p:nvPr/>
        </p:nvSpPr>
        <p:spPr>
          <a:xfrm>
            <a:off x="7877175" y="2247900"/>
            <a:ext cx="1771650" cy="70485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5875">
            <a:solidFill>
              <a:srgbClr val="C9D1DA"/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NotLoaded</a:t>
            </a:r>
            <a:endParaRPr lang="en-US" sz="1425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compartimento já estava vazio</a:t>
            </a:r>
            <a:endParaRPr lang="en-US" sz="1425" dirty="0"/>
          </a:p>
        </p:txBody>
      </p:sp>
      <p:sp>
        <p:nvSpPr>
          <p:cNvPr id="14" name="Text 12"/>
          <p:cNvSpPr/>
          <p:nvPr/>
        </p:nvSpPr>
        <p:spPr>
          <a:xfrm>
            <a:off x="9734550" y="2247900"/>
            <a:ext cx="1771650" cy="70485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5875">
            <a:solidFill>
              <a:srgbClr val="C9D1DA"/>
            </a:solidFill>
          </a:ln>
        </p:spPr>
        <p:txBody>
          <a:bodyPr wrap="square" lIns="114300" tIns="63500" rIns="114300" bIns="635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chemeClr val="accent1"/>
                </a:solidFill>
              </a:rPr>
              <a:t>Fault</a:t>
            </a:r>
            <a:endParaRPr lang="en-US" sz="1425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sem leitura válida</a:t>
            </a:r>
            <a:endParaRPr lang="en-US" sz="1425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048000"/>
            <a:ext cx="10820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Figura 2 — Estados do ciclo diário e condições de término da janela.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486150"/>
            <a:ext cx="10820400" cy="2762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6700" indent="-2667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650" b="1" dirty="0">
                <a:solidFill>
                  <a:schemeClr val="tx1"/>
                </a:solidFill>
              </a:rPr>
              <a:t>Princípio de projeto: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50" dirty="0">
                <a:solidFill>
                  <a:schemeClr val="tx1"/>
                </a:solidFill>
              </a:rPr>
              <a:t> ausência de dado nunca resulta em “retirada”; leva a Fault.</a:t>
            </a:r>
            <a:endParaRPr lang="en-US" sz="1700" dirty="0"/>
          </a:p>
          <a:p>
            <a:pPr marL="266700" indent="-2667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</a:rPr>
              <a:t>A presença é verificada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chemeClr val="tx1"/>
                </a:solidFill>
              </a:rPr>
              <a:t>dentro da janela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50" dirty="0">
                <a:solidFill>
                  <a:schemeClr val="tx1"/>
                </a:solidFill>
              </a:rPr>
              <a:t>: o cuidador pode repor a dose a qualquer momento.</a:t>
            </a:r>
            <a:endParaRPr lang="en-US" sz="1700" dirty="0"/>
          </a:p>
          <a:p>
            <a:pPr marL="266700" indent="-2667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</a:rPr>
              <a:t>Após o alerta, a observação continua por 30 min; uma retirada nesse período é registrada como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chemeClr val="tx1"/>
                </a:solidFill>
              </a:rPr>
              <a:t>retirada com atraso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50" dirty="0">
                <a:solidFill>
                  <a:schemeClr val="tx1"/>
                </a:solidFill>
              </a:rPr>
              <a:t>.</a:t>
            </a:r>
            <a:endParaRPr lang="en-US" sz="1700" dirty="0"/>
          </a:p>
          <a:p>
            <a:pPr marL="266700" indent="-266700">
              <a:lnSpc>
                <a:spcPct val="112000"/>
              </a:lnSpc>
              <a:spcAft>
                <a:spcPts val="6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</a:rPr>
              <a:t>Hora obtida por 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50" b="1" dirty="0">
                <a:solidFill>
                  <a:schemeClr val="tx1"/>
                </a:solidFill>
              </a:rPr>
              <a:t>SNTP</a:t>
            </a:r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50" dirty="0">
                <a:solidFill>
                  <a:schemeClr val="tx1"/>
                </a:solidFill>
              </a:rPr>
              <a:t>; a janela do dia seguinte é armada automaticamente e, após reinício, a janela do dia é retomada.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53700" y="6477000"/>
            <a:ext cx="952500" cy="2095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14350"/>
            <a:ext cx="10820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tx2"/>
                </a:solidFill>
              </a:rPr>
              <a:t>2 · PROJETO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2000"/>
            <a:ext cx="10820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Protocolos de comunicação e interface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77000"/>
            <a:ext cx="2476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Juliana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85900"/>
          <a:ext cx="5219700" cy="914400"/>
        </p:xfrm>
        <a:graphic>
          <a:graphicData uri="http://schemas.openxmlformats.org/drawingml/2006/table">
            <a:tbl>
              <a:tblPr/>
              <a:tblGrid>
                <a:gridCol w="1762125"/>
                <a:gridCol w="3457575"/>
              </a:tblGrid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chemeClr val="tx1"/>
                          </a:solidFill>
                        </a:rPr>
                        <a:t>Enlace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chemeClr val="tx1"/>
                          </a:solidFill>
                        </a:rPr>
                        <a:t>Protocolo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chemeClr val="tx1"/>
                          </a:solidFill>
                        </a:rPr>
                        <a:t>PC ↔ ESP32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chemeClr val="tx1"/>
                          </a:solidFill>
                        </a:rPr>
                        <a:t>USB-UART 115200, </a:t>
                      </a:r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chemeClr val="tx1"/>
                          </a:solidFill>
                        </a:rPr>
                        <a:t>JSON Lines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chemeClr val="tx1"/>
                          </a:solidFill>
                        </a:rPr>
                        <a:t>ESP32 ↔ câmera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chemeClr val="tx1"/>
                          </a:solidFill>
                        </a:rPr>
                        <a:t>SCCB (I²C) + DVP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chemeClr val="tx1"/>
                          </a:solidFill>
                        </a:rPr>
                        <a:t>Rede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chemeClr val="tx1"/>
                          </a:solidFill>
                        </a:rPr>
                        <a:t>Wi-Fi 802.11 WPA2, DHCP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chemeClr val="tx1"/>
                          </a:solidFill>
                        </a:rPr>
                        <a:t>Hora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chemeClr val="tx1"/>
                          </a:solidFill>
                        </a:rPr>
                        <a:t>SNTP (UDP 123)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chemeClr val="tx1"/>
                          </a:solidFill>
                        </a:rPr>
                        <a:t>Aviso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25" b="1" dirty="0">
                          <a:solidFill>
                            <a:schemeClr val="tx1"/>
                          </a:solidFill>
                        </a:rPr>
                        <a:t>HTTPS / TLS</a:t>
                      </a:r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chemeClr val="tx1"/>
                          </a:solidFill>
                        </a:rPr>
                        <a:t> → Telegram Bot API</a:t>
                      </a:r>
                      <a:endParaRPr lang="en-US" sz="1425" dirty="0"/>
                    </a:p>
                    <a:p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sendMessage</a:t>
                      </a:r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chemeClr val="tx1"/>
                          </a:solidFill>
                        </a:rPr>
                        <a:t>, </a:t>
                      </a:r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chemeClr val="tx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sendPhoto</a:t>
                      </a:r>
                      <a:pPr indent="0" marL="0">
                        <a:buNone/>
                      </a:pPr>
                      <a:r>
                        <a:rPr lang="en-US" sz="1425" dirty="0">
                          <a:solidFill>
                            <a:schemeClr val="tx1"/>
                          </a:solidFill>
                        </a:rPr>
                        <a:t> (multipart)</a:t>
                      </a:r>
                      <a:endParaRPr lang="en-US" sz="142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85800" y="4000500"/>
            <a:ext cx="52197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chemeClr val="tx1"/>
                </a:solidFill>
              </a:rPr>
              <a:t>Painel de configuração (Python/Tkinter):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chemeClr val="tx1"/>
                </a:solidFill>
              </a:rPr>
              <a:t> abas Câmera, Agenda e Wi-Fi/Telegram. Executa no Windows e no macOS.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286500" y="1485900"/>
            <a:ext cx="5219700" cy="952500"/>
          </a:xfrm>
          <a:prstGeom prst="roundRect">
            <a:avLst>
              <a:gd name="adj" fmla="val 8000"/>
            </a:avLst>
          </a:prstGeom>
          <a:solidFill>
            <a:srgbClr val="EFFDDE"/>
          </a:solidFill>
          <a:ln w="9525">
            <a:solidFill>
              <a:srgbClr val="CFE9B8"/>
            </a:solidFill>
          </a:ln>
        </p:spPr>
        <p:txBody>
          <a:bodyPr wrap="square" lIns="139700" tIns="76200" rIns="1397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🔌 </a:t>
            </a:r>
            <a:pPr algn="l"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Auditor ligado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🕒 Relógio: seg 12/10, 07:58 (internet)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✅ Próxima verificação: </a:t>
            </a:r>
            <a:pPr algn="l"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seg 12/10 às 08:00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286500" y="2533650"/>
            <a:ext cx="5219700" cy="704850"/>
          </a:xfrm>
          <a:prstGeom prst="roundRect">
            <a:avLst>
              <a:gd name="adj" fmla="val 10811"/>
            </a:avLst>
          </a:prstGeom>
          <a:solidFill>
            <a:srgbClr val="EFFDDE"/>
          </a:solidFill>
          <a:ln w="9525">
            <a:solidFill>
              <a:srgbClr val="CFE9B8"/>
            </a:solidFill>
          </a:ln>
        </p:spPr>
        <p:txBody>
          <a:bodyPr wrap="square" lIns="139700" tIns="76200" rIns="1397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⏰ </a:t>
            </a:r>
            <a:pPr algn="l"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Hora da dose: 08:00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📷 Verificando o compartimento por até 30 min.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286500" y="3333750"/>
            <a:ext cx="5219700" cy="704850"/>
          </a:xfrm>
          <a:prstGeom prst="roundRect">
            <a:avLst>
              <a:gd name="adj" fmla="val 10811"/>
            </a:avLst>
          </a:prstGeom>
          <a:solidFill>
            <a:srgbClr val="EFFDDE"/>
          </a:solidFill>
          <a:ln w="9525">
            <a:solidFill>
              <a:srgbClr val="CFE9B8"/>
            </a:solidFill>
          </a:ln>
        </p:spPr>
        <p:txBody>
          <a:bodyPr wrap="square" lIns="139700" tIns="76200" rIns="1397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🔔 </a:t>
            </a:r>
            <a:pPr algn="l"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Dose NÃO tomada</a:t>
            </a:r>
            <a:pPr algn="l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 · 💊 08:00 · ⏰ ainda lá às 08:30 </a:t>
            </a:r>
            <a:pPr algn="l" indent="0" marL="0">
              <a:buNone/>
            </a:pPr>
            <a:r>
              <a:rPr lang="en-US" sz="1350" i="1" dirty="0">
                <a:solidFill>
                  <a:schemeClr val="tx1"/>
                </a:solidFill>
              </a:rPr>
              <a:t>+ foto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286500" y="4133850"/>
            <a:ext cx="5219700" cy="476250"/>
          </a:xfrm>
          <a:prstGeom prst="roundRect">
            <a:avLst>
              <a:gd name="adj" fmla="val 16000"/>
            </a:avLst>
          </a:prstGeom>
          <a:solidFill>
            <a:srgbClr val="EFFDDE"/>
          </a:solidFill>
          <a:ln w="9525">
            <a:solidFill>
              <a:srgbClr val="CFE9B8"/>
            </a:solidFill>
          </a:ln>
        </p:spPr>
        <p:txBody>
          <a:bodyPr wrap="square" lIns="139700" tIns="76200" rIns="1397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✅ </a:t>
            </a:r>
            <a:pPr algn="l" indent="0" marL="0">
              <a:buNone/>
            </a:pPr>
            <a:r>
              <a:rPr lang="en-US" sz="1350" b="1" dirty="0">
                <a:solidFill>
                  <a:schemeClr val="tx1"/>
                </a:solidFill>
              </a:rPr>
              <a:t>Dose tomada com atraso</a:t>
            </a:r>
            <a:pPr algn="l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 · 🕒 confirmada às 08:41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6286500" y="4705350"/>
            <a:ext cx="5219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Figura 3 — Mensagens enviadas ao cuidador pelo Telegram em um ciclo.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53700" y="6477000"/>
            <a:ext cx="952500" cy="2095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14350"/>
            <a:ext cx="10820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tx2"/>
                </a:solidFill>
              </a:rPr>
              <a:t>2 · PROJETO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2000"/>
            <a:ext cx="10820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Visão computacional: subtração de fundo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77000"/>
            <a:ext cx="2476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Henrique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485900"/>
            <a:ext cx="546735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6700" indent="-266700">
              <a:lnSpc>
                <a:spcPct val="112000"/>
              </a:lnSpc>
              <a:spcAft>
                <a:spcPts val="75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Quadro JPEG 160 × 120 → tons de cinza → ROI em </a:t>
            </a:r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32 × 32</a:t>
            </a:r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células; 2 quadros estáveis por leitura.</a:t>
            </a:r>
            <a:endParaRPr lang="en-US" sz="1700" dirty="0"/>
          </a:p>
          <a:p>
            <a:pPr marL="266700" indent="-266700">
              <a:lnSpc>
                <a:spcPct val="112000"/>
              </a:lnSpc>
              <a:spcAft>
                <a:spcPts val="750"/>
              </a:spcAft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</a:rPr>
              <a:t>Subtração de fundo:</a:t>
            </a:r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apenas o compartimento vazio é calibrado; o brilho global é compensado pela mediana.</a:t>
            </a:r>
            <a:endParaRPr lang="en-US" sz="1700" dirty="0"/>
          </a:p>
          <a:p>
            <a:pPr marL="266700" indent="-266700">
              <a:lnSpc>
                <a:spcPct val="112000"/>
              </a:lnSpc>
              <a:spcAft>
                <a:spcPts val="75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Célula alterada: diferença acima de max(20, ruído + 8). </a:t>
            </a:r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Mancha ≥ 6 células = dose presente</a:t>
            </a:r>
            <a:pPr indent="0" marL="0">
              <a:lnSpc>
                <a:spcPct val="112000"/>
              </a:lnSpc>
              <a:spcAft>
                <a:spcPts val="75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  <a:p>
            <a:pPr marL="266700" indent="-266700">
              <a:lnSpc>
                <a:spcPct val="112000"/>
              </a:lnSpc>
              <a:spcAft>
                <a:spcPts val="75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Independe do comprimido e da posição; não requer treinamento.</a:t>
            </a:r>
            <a:endParaRPr lang="en-US" sz="1700" dirty="0"/>
          </a:p>
        </p:txBody>
      </p:sp>
      <p:pic>
        <p:nvPicPr>
          <p:cNvPr id="6" name="Image 0" descr="Referência vazia, compartimento com comprimido e células alterad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4150" y="1485900"/>
            <a:ext cx="4972050" cy="122598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34150" y="2788085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Figura 4 — Vazio, com comprimido e células alteradas (mancha de 37).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4150" y="3238500"/>
          <a:ext cx="4972050" cy="914400"/>
        </p:xfrm>
        <a:graphic>
          <a:graphicData uri="http://schemas.openxmlformats.org/drawingml/2006/table">
            <a:tbl>
              <a:tblPr/>
              <a:tblGrid>
                <a:gridCol w="1333500"/>
                <a:gridCol w="1676400"/>
                <a:gridCol w="1962150"/>
              </a:tblGrid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Ensaio (11/10)</a:t>
                      </a:r>
                      <a:endParaRPr lang="en-US" sz="120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Antes: cheio × vazio</a:t>
                      </a:r>
                      <a:endParaRPr lang="en-US" sz="120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Agora: só vazio</a:t>
                      </a:r>
                      <a:endParaRPr lang="en-US" sz="120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Calibrado</a:t>
                      </a:r>
                      <a:endParaRPr lang="en-US" sz="120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PRESENTE</a:t>
                      </a:r>
                      <a:endParaRPr lang="en-US" sz="120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PRESENTE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 (mancha 59)</a:t>
                      </a:r>
                      <a:endParaRPr lang="en-US" sz="120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Vazio</a:t>
                      </a:r>
                      <a:endParaRPr lang="en-US" sz="120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VAZIO</a:t>
                      </a:r>
                      <a:endParaRPr lang="en-US" sz="120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VAZIO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 (mancha 0)</a:t>
                      </a:r>
                      <a:endParaRPr lang="en-US" sz="120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Outra cápsula</a:t>
                      </a:r>
                      <a:endParaRPr lang="en-US" sz="120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inconclusivo</a:t>
                      </a:r>
                      <a:endParaRPr lang="en-US" sz="120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PRESENTE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 (50)</a:t>
                      </a:r>
                      <a:endParaRPr lang="en-US" sz="120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Deslocado</a:t>
                      </a:r>
                      <a:endParaRPr lang="en-US" sz="120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inconclusivo</a:t>
                      </a:r>
                      <a:endParaRPr lang="en-US" sz="120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PRESENTE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 (66)</a:t>
                      </a:r>
                      <a:endParaRPr lang="en-US" sz="120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534150" y="4914900"/>
            <a:ext cx="497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Tabela 2 — Classificação na placa antes e depois do novo critério.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53700" y="6477000"/>
            <a:ext cx="952500" cy="2095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14350"/>
            <a:ext cx="10820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tx2"/>
                </a:solidFill>
              </a:rPr>
              <a:t>3 · RESULTADOS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2000"/>
            <a:ext cx="10820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Protótipo e resultados obtidos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77000"/>
            <a:ext cx="2476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Henrique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85800" y="1485900"/>
            <a:ext cx="3467100" cy="2952750"/>
          </a:xfrm>
          <a:prstGeom prst="rect">
            <a:avLst/>
          </a:prstGeom>
          <a:solidFill>
            <a:schemeClr val="bg1"/>
          </a:solidFill>
          <a:ln w="9525">
            <a:solidFill>
              <a:srgbClr val="C9D1DA"/>
            </a:solidFill>
            <a:prstDash val="solid"/>
          </a:ln>
        </p:spPr>
      </p:sp>
      <p:pic>
        <p:nvPicPr>
          <p:cNvPr id="6" name="Image 0" descr="Foto do protótip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2069" y="1485900"/>
            <a:ext cx="2214563" cy="29527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4514850"/>
            <a:ext cx="3467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Figura 5 — Protótipo em bancada.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62450" y="1485900"/>
            <a:ext cx="3467100" cy="2952750"/>
          </a:xfrm>
          <a:prstGeom prst="rect">
            <a:avLst/>
          </a:prstGeom>
          <a:solidFill>
            <a:schemeClr val="bg1"/>
          </a:solidFill>
          <a:ln w="9525">
            <a:solidFill>
              <a:srgbClr val="C9D1DA"/>
            </a:solidFill>
            <a:prstDash val="solid"/>
          </a:ln>
        </p:spPr>
      </p:sp>
      <p:pic>
        <p:nvPicPr>
          <p:cNvPr id="9" name="Image 1" descr="Avisos no Telegra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637" y="1485900"/>
            <a:ext cx="1646726" cy="295275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362450" y="4514850"/>
            <a:ext cx="3467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Figura 6 — Avisos recebidos no Telegram.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39100" y="1485900"/>
          <a:ext cx="3467100" cy="914400"/>
        </p:xfrm>
        <a:graphic>
          <a:graphicData uri="http://schemas.openxmlformats.org/drawingml/2006/table">
            <a:tbl>
              <a:tblPr/>
              <a:tblGrid>
                <a:gridCol w="2133600"/>
                <a:gridCol w="1333500"/>
              </a:tblGrid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chemeClr val="tx1"/>
                          </a:solidFill>
                        </a:rPr>
                        <a:t>Medida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chemeClr val="tx1"/>
                          </a:solidFill>
                        </a:rPr>
                        <a:t>Resultado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chemeClr val="tx1"/>
                          </a:solidFill>
                        </a:rPr>
                        <a:t>Leitura (meta: ≤ 2 s)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chemeClr val="tx1"/>
                          </a:solidFill>
                        </a:rPr>
                        <a:t>168–220 ms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chemeClr val="tx1"/>
                          </a:solidFill>
                        </a:rPr>
                        <a:t>Comando → foto no celular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chemeClr val="tx1"/>
                          </a:solidFill>
                        </a:rPr>
                        <a:t>≈ 5 s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chemeClr val="tx1"/>
                          </a:solidFill>
                        </a:rPr>
                        <a:t>Verificações automáticas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chemeClr val="tx1"/>
                          </a:solidFill>
                        </a:rPr>
                        <a:t>429</a:t>
                      </a:r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chemeClr val="tx1"/>
                          </a:solidFill>
                        </a:rPr>
                        <a:t> aprovadas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chemeClr val="tx1"/>
                          </a:solidFill>
                        </a:rPr>
                        <a:t>Integração contínua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chemeClr val="tx1"/>
                          </a:solidFill>
                        </a:rPr>
                        <a:t>Ubuntu e macOS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chemeClr val="tx1"/>
                          </a:solidFill>
                        </a:rPr>
                        <a:t>RAM estática / flash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chemeClr val="tx1"/>
                          </a:solidFill>
                        </a:rPr>
                        <a:t>22,6% / 29,3%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8039100" y="4095750"/>
            <a:ext cx="3467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Tabela 3 — Medidas na placa e no PC.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4953000"/>
            <a:ext cx="108204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425" dirty="0">
                <a:solidFill>
                  <a:schemeClr val="tx1"/>
                </a:solidFill>
              </a:rPr>
              <a:t>Verificado na placa: Wi-Fi e SNTP, câmera, calibração, detecção com comprimidos e posições diferentes e o ciclo agendado completo (início da janela → alerta → retirada com atraso). Vídeo e demonstração a seguir.</a:t>
            </a:r>
            <a:endParaRPr lang="en-US" sz="1425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25" dirty="0">
                <a:solidFill>
                  <a:schemeClr val="tx2"/>
                </a:solidFill>
              </a:rPr>
              <a:t>A detecção foi conferida em quatro leituras; o ensaio de acurácia (RNF03) está previsto.</a:t>
            </a:r>
            <a:endParaRPr lang="en-US" sz="142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53700" y="6477000"/>
            <a:ext cx="952500" cy="2095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14350"/>
            <a:ext cx="10820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tx2"/>
                </a:solidFill>
              </a:rPr>
              <a:t>3 · RESULTADOS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2000"/>
            <a:ext cx="10820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Problemas enfrentados e soluções adotadas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77000"/>
            <a:ext cx="2476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Henrique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85900"/>
          <a:ext cx="10820400" cy="914400"/>
        </p:xfrm>
        <a:graphic>
          <a:graphicData uri="http://schemas.openxmlformats.org/drawingml/2006/table">
            <a:tbl>
              <a:tblPr/>
              <a:tblGrid>
                <a:gridCol w="3467100"/>
                <a:gridCol w="3676650"/>
                <a:gridCol w="367665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Sintoma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Causa identificada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chemeClr val="tx1"/>
                          </a:solidFill>
                        </a:rPr>
                        <a:t>Solução adotada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Câmera não iniciava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Pinagem WROVER KIT, não AI-Thinker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Perfis de pinagem na NVS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Reinício em loop ao ligar o Wi-Fi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Estouro de pilha (sys_evt, cam_task)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Pilhas de 4 KB; câmera no núcleo 1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Telegram falhava no TLS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Só ~31 KB de RAM interna livre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mbedTLS e buffers na PSRAM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Quadros perdidos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Buffer JPEG de 3,8 KB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Buffer fixo de 16 KB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“Cena instável” com tudo parado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Ruído do JPEG (qualidade 12)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Qualidade 6 e média 5×5 no entorno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Remédio pequeno não calibrava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Média dilui ~4% da ROI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Métrica top 10%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Outra cápsula/deslocado: inconclusivo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“Presente” = aquela foto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Só a referência vazio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Integrante com macOS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Scripts só para Windows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chemeClr val="tx1"/>
                          </a:solidFill>
                        </a:rPr>
                        <a:t>Ferramentas em Python + CI no macOS</a:t>
                      </a:r>
                      <a:endParaRPr lang="en-US" sz="13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53700" y="6477000"/>
            <a:ext cx="952500" cy="2095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514350"/>
            <a:ext cx="10820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chemeClr val="tx2"/>
                </a:solidFill>
              </a:rPr>
              <a:t>4 · PLANEJAMENTO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762000"/>
            <a:ext cx="10820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Cronograma e próximos passos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6477000"/>
            <a:ext cx="2476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Henrique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85900"/>
          <a:ext cx="5219700" cy="914400"/>
        </p:xfrm>
        <a:graphic>
          <a:graphicData uri="http://schemas.openxmlformats.org/drawingml/2006/table">
            <a:tbl>
              <a:tblPr/>
              <a:tblGrid>
                <a:gridCol w="800100"/>
                <a:gridCol w="1123950"/>
                <a:gridCol w="2305050"/>
                <a:gridCol w="990600"/>
              </a:tblGrid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chemeClr val="tx1"/>
                          </a:solidFill>
                        </a:rPr>
                        <a:t>Data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chemeClr val="tx1"/>
                          </a:solidFill>
                        </a:rPr>
                        <a:t>Previsto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chemeClr val="tx1"/>
                          </a:solidFill>
                        </a:rPr>
                        <a:t>Realizado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b="1" dirty="0">
                          <a:solidFill>
                            <a:schemeClr val="tx1"/>
                          </a:solidFill>
                        </a:rPr>
                        <a:t>Situação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chemeClr val="tx1"/>
                          </a:solidFill>
                        </a:rPr>
                        <a:t>25/09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chemeClr val="tx1"/>
                          </a:solidFill>
                        </a:rPr>
                        <a:t>Requisitos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chemeClr val="tx1"/>
                          </a:solidFill>
                        </a:rPr>
                        <a:t>+ firmware v1.0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3"/>
                          </a:solidFill>
                        </a:rPr>
                        <a:t>ADIANTADO</a:t>
                      </a:r>
                      <a:endParaRPr lang="en-US" sz="10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chemeClr val="tx1"/>
                          </a:solidFill>
                        </a:rPr>
                        <a:t>02/10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chemeClr val="tx1"/>
                          </a:solidFill>
                        </a:rPr>
                        <a:t>Arquitetura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chemeClr val="tx1"/>
                          </a:solidFill>
                        </a:rPr>
                        <a:t>+ MVP com Telegram na placa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3"/>
                          </a:solidFill>
                        </a:rPr>
                        <a:t>ADIANTADO</a:t>
                      </a:r>
                      <a:endParaRPr lang="en-US" sz="10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chemeClr val="tx1"/>
                          </a:solidFill>
                        </a:rPr>
                        <a:t>09/10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chemeClr val="tx1"/>
                          </a:solidFill>
                        </a:rPr>
                        <a:t>Firmware inicial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chemeClr val="tx1"/>
                          </a:solidFill>
                        </a:rPr>
                        <a:t>Calibração, visão revista, macOS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3"/>
                          </a:solidFill>
                        </a:rPr>
                        <a:t>ADIANTADO</a:t>
                      </a:r>
                      <a:endParaRPr lang="en-US" sz="10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chemeClr val="tx1"/>
                          </a:solidFill>
                        </a:rPr>
                        <a:t>30/10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chemeClr val="tx1"/>
                          </a:solidFill>
                        </a:rPr>
                        <a:t>Fluxo completo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chemeClr val="tx1"/>
                          </a:solidFill>
                        </a:rPr>
                        <a:t>Já pronto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3"/>
                          </a:solidFill>
                        </a:rPr>
                        <a:t>ANTECIPADO</a:t>
                      </a:r>
                      <a:endParaRPr lang="en-US" sz="10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chemeClr val="tx1"/>
                          </a:solidFill>
                        </a:rPr>
                        <a:t>13–27/11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chemeClr val="tx1"/>
                          </a:solidFill>
                        </a:rPr>
                        <a:t>Ensaios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chemeClr val="tx1"/>
                          </a:solidFill>
                        </a:rPr>
                        <a:t>A executar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6"/>
                          </a:solidFill>
                        </a:rPr>
                        <a:t>PREVISTO</a:t>
                      </a:r>
                      <a:endParaRPr lang="en-US" sz="10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chemeClr val="tx1"/>
                          </a:solidFill>
                        </a:rPr>
                        <a:t>11/12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chemeClr val="tx1"/>
                          </a:solidFill>
                        </a:rPr>
                        <a:t>P2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75" dirty="0">
                          <a:solidFill>
                            <a:schemeClr val="tx1"/>
                          </a:solidFill>
                        </a:rPr>
                        <a:t>A executar</a:t>
                      </a:r>
                      <a:endParaRPr lang="en-US" sz="1275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accent6"/>
                          </a:solidFill>
                        </a:rPr>
                        <a:t>PREVISTO</a:t>
                      </a:r>
                      <a:endParaRPr lang="en-US" sz="1050" dirty="0"/>
                    </a:p>
                  </a:txBody>
                  <a:tcPr marL="88900" marR="88900" marT="50800" marB="50800" anchor="ctr">
                    <a:lnL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286500" y="1485900"/>
            <a:ext cx="5219700" cy="2247900"/>
          </a:xfrm>
          <a:prstGeom prst="roundRect">
            <a:avLst>
              <a:gd name="adj" fmla="val 1695"/>
            </a:avLst>
          </a:prstGeom>
          <a:solidFill>
            <a:schemeClr val="bg2"/>
          </a:solidFill>
          <a:ln w="15875">
            <a:solidFill>
              <a:schemeClr val="accent1"/>
            </a:solidFill>
          </a:ln>
        </p:spPr>
        <p:txBody>
          <a:bodyPr wrap="square" lIns="203200" tIns="165100" rIns="203200" bIns="16510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50" b="1" dirty="0">
                <a:solidFill>
                  <a:schemeClr val="accent1"/>
                </a:solidFill>
              </a:rPr>
              <a:t>Próximos passos até a P2</a:t>
            </a:r>
            <a:endParaRPr lang="en-US" sz="1425" dirty="0"/>
          </a:p>
          <a:p>
            <a:pPr algn="l" marL="266700" indent="-2667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Suporte mecânico fixo e iluminação documentada</a:t>
            </a:r>
            <a:endParaRPr lang="en-US" sz="1425" dirty="0"/>
          </a:p>
          <a:p>
            <a:pPr algn="l" marL="266700" indent="-2667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Leituras com vários comprimidos e posições</a:t>
            </a:r>
            <a:endParaRPr lang="en-US" sz="1425" dirty="0"/>
          </a:p>
          <a:p>
            <a:pPr algn="l" marL="266700" indent="-2667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Acurácia: 30 + 30 leituras e 10 oclusões (RNF03)</a:t>
            </a:r>
            <a:endParaRPr lang="en-US" sz="1425" dirty="0"/>
          </a:p>
          <a:p>
            <a:pPr algn="l" marL="266700" indent="-2667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20 ciclos e 24 h só na fonte (RNF06, RNF07)</a:t>
            </a:r>
            <a:endParaRPr lang="en-US" sz="1425" dirty="0"/>
          </a:p>
          <a:p>
            <a:pPr algn="l" marL="266700" indent="-2667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Extensão: organizador semanal</a:t>
            </a:r>
            <a:endParaRPr lang="en-US" sz="142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53700" y="6477000"/>
            <a:ext cx="952500" cy="20955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5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ditor de Medicacao">
  <a:themeElements>
    <a:clrScheme name="Auditor de Medicacao">
      <a:dk1>
        <a:srgbClr val="16202B"/>
      </a:dk1>
      <a:lt1>
        <a:srgbClr val="FFFFFF"/>
      </a:lt1>
      <a:dk2>
        <a:srgbClr val="5B6672"/>
      </a:dk2>
      <a:lt2>
        <a:srgbClr val="EEF2F6"/>
      </a:lt2>
      <a:accent1>
        <a:srgbClr val="1B4F72"/>
      </a:accent1>
      <a:accent2>
        <a:srgbClr val="2A9D8F"/>
      </a:accent2>
      <a:accent3>
        <a:srgbClr val="2E7D32"/>
      </a:accent3>
      <a:accent4>
        <a:srgbClr val="B26A00"/>
      </a:accent4>
      <a:accent5>
        <a:srgbClr val="B3261E"/>
      </a:accent5>
      <a:accent6>
        <a:srgbClr val="6B7280"/>
      </a:accent6>
      <a:hlink>
        <a:srgbClr val="1B4F72"/>
      </a:hlink>
      <a:folHlink>
        <a:srgbClr val="5B6672"/>
      </a:folHlink>
    </a:clrScheme>
    <a:fontScheme name="Auditor de Medicaca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P1 — Auditor Visual de Medicação</dc:title>
  <dc:subject>PptxGenJS Presentation</dc:subject>
  <dc:creator>Gabriel Dias Tambelli, Henrique Murakami de Paula, Juliana Marcarini Carloni</dc:creator>
  <cp:lastModifiedBy>Gabriel Dias Tambelli, Henrique Murakami de Paula, Juliana Marcarini Carloni</cp:lastModifiedBy>
  <cp:revision>1</cp:revision>
  <dcterms:created xsi:type="dcterms:W3CDTF">2026-10-13T00:51:54Z</dcterms:created>
  <dcterms:modified xsi:type="dcterms:W3CDTF">2026-10-13T00:51:54Z</dcterms:modified>
</cp:coreProperties>
</file>