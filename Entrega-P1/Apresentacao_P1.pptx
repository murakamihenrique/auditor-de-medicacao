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2247900"/>
            <a:ext cx="10820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b="1" spc="150" kern="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350" b="1" spc="150" kern="0" dirty="0">
                <a:solidFill>
                  <a:schemeClr val="accent2"/>
                </a:solidFill>
              </a:rPr>
              <a:t>APRESENTAÇÃO</a:t>
            </a:r>
            <a:endParaRPr lang="en-US" sz="13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2533650"/>
            <a:ext cx="10820400" cy="76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Título</a:t>
            </a: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95300"/>
            <a:ext cx="108204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SEÇÃO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2950"/>
            <a:ext cx="10820400" cy="533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Título</a:t>
            </a: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3238500" y="64770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PCS 3858 · Auditor Visual de Medicação · P1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são da Escola Politécnica da US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95300"/>
            <a:ext cx="838200" cy="90106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3550" y="571500"/>
            <a:ext cx="8572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Escola Politécnica da Universidade de São Paulo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733550" y="838200"/>
            <a:ext cx="857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Departamento de Engenharia de Computação e Sistemas Digitais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1733550" y="1066800"/>
            <a:ext cx="857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PCS 3858 — Laboratório de Sistemas Embarcados · Turma 3</a:t>
            </a:r>
            <a:endParaRPr lang="en-US" sz="1350" dirty="0"/>
          </a:p>
        </p:txBody>
      </p:sp>
      <p:sp>
        <p:nvSpPr>
          <p:cNvPr id="6" name="Text 0"/>
          <p:cNvSpPr/>
          <p:nvPr>
            <p:ph idx="100" type="body" hasCustomPrompt="1"/>
          </p:nvPr>
        </p:nvSpPr>
        <p:spPr>
          <a:xfrm>
            <a:off x="685800" y="224790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chemeClr val="accent2"/>
                </a:solidFill>
              </a:rPr>
              <a:t>APRESENTAÇÃO P1</a:t>
            </a:r>
            <a:endParaRPr lang="en-US" sz="1350" dirty="0"/>
          </a:p>
        </p:txBody>
      </p:sp>
      <p:sp>
        <p:nvSpPr>
          <p:cNvPr id="7" name="Text 0"/>
          <p:cNvSpPr/>
          <p:nvPr>
            <p:ph idx="101" type="title" hasCustomPrompt="1"/>
          </p:nvPr>
        </p:nvSpPr>
        <p:spPr>
          <a:xfrm>
            <a:off x="685800" y="2533650"/>
            <a:ext cx="10820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Auditor Visual de Medicação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333750"/>
            <a:ext cx="10820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chemeClr val="tx2"/>
                </a:solidFill>
              </a:rPr>
              <a:t>Verificação da retirada de medicamentos com ESP32-CAM e aviso pelo Telegram</a:t>
            </a:r>
            <a:endParaRPr lang="en-US" sz="19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476750"/>
            <a:ext cx="108204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Gabriel Dias Tambelli — NUSP 12551370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Henrique Murakami de Paula — NUSP 12551154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Juliana Marcarini Carloni — NUSP 12553538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52450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Prof. Dr. Carlos Eduardo Cugnasca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772150"/>
            <a:ext cx="1082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São Paulo, 16 de outubro de 2026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9530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1 · INTRODUÇÃO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2950"/>
            <a:ext cx="1082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Motivação e proposta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476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Gabriel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00200"/>
            <a:ext cx="52197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Mais de </a:t>
            </a:r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50%</a:t>
            </a:r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 dos pacientes crônicos e idosos não seguem o tratamento como prescrito.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Os dispensadores automáticos são caros e substituem a caixa que o paciente já usa.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900" b="1" dirty="0">
                <a:solidFill>
                  <a:schemeClr val="tx1"/>
                </a:solidFill>
              </a:rPr>
              <a:t>Proposta:</a:t>
            </a:r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 uma câmera sobre um porta-comprimidos comum, que apenas observa.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286500" y="1524000"/>
            <a:ext cx="5219700" cy="2590800"/>
          </a:xfrm>
          <a:prstGeom prst="roundRect">
            <a:avLst>
              <a:gd name="adj" fmla="val 2206"/>
            </a:avLst>
          </a:prstGeom>
          <a:solidFill>
            <a:schemeClr val="bg2"/>
          </a:solidFill>
          <a:ln w="15875">
            <a:solidFill>
              <a:schemeClr val="bg2"/>
            </a:solidFill>
          </a:ln>
        </p:spPr>
        <p:txBody>
          <a:bodyPr wrap="square" lIns="254000" tIns="203200" rIns="254000" bIns="20320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725" b="1" dirty="0">
                <a:solidFill>
                  <a:schemeClr val="accent1"/>
                </a:solidFill>
              </a:rPr>
              <a:t>O que o protótipo faz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Fotografa o compartimento no horário da dose.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Decide se a dose foi </a:t>
            </a:r>
            <a:pPr algn="l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retirada</a:t>
            </a:r>
            <a:pPr algn="l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, </a:t>
            </a:r>
            <a:pPr algn="l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não retirada</a:t>
            </a:r>
            <a:pPr algn="l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 ou se a leitura foi </a:t>
            </a:r>
            <a:pPr algn="l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inconclusiva</a:t>
            </a:r>
            <a:pPr algn="l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Avisa o cuidador pelo Telegram, com foto quando necessário.</a:t>
            </a:r>
            <a:endParaRPr lang="en-US" sz="1425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350" dirty="0">
                <a:solidFill>
                  <a:schemeClr val="tx2"/>
                </a:solidFill>
              </a:rPr>
              <a:t>O sistema não identifica o remédio nem comprova a ingestão.</a:t>
            </a:r>
            <a:endParaRPr lang="en-US" sz="14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9530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1 · INTRODUÇÃO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2950"/>
            <a:ext cx="1082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Evolução do escopo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476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Gabriel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24000"/>
          <a:ext cx="10820400" cy="914400"/>
        </p:xfrm>
        <a:graphic>
          <a:graphicData uri="http://schemas.openxmlformats.org/drawingml/2006/table">
            <a:tbl>
              <a:tblPr/>
              <a:tblGrid>
                <a:gridCol w="1047750"/>
                <a:gridCol w="2571750"/>
                <a:gridCol w="3771900"/>
                <a:gridCol w="3429000"/>
              </a:tblGrid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bg1"/>
                          </a:solidFill>
                        </a:rPr>
                        <a:t>Proposta (set)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bg1"/>
                          </a:solidFill>
                        </a:rPr>
                        <a:t>Plano (Tarefa 02)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bg1"/>
                          </a:solidFill>
                        </a:rPr>
                        <a:t>MVP atual (out)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Placa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XIAO ESP32-S3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ESP32-S3-ETH + câmera avulsa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ESP32-CAM RoboCore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Visão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CNN (TinyML)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Referências cheio e vazio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Só a referência do vazio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Hora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RTC DS3231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Manual, pela serial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SNTP (Internet)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Alerta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Wi-Fi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Buzzer e botão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Telegram com foto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Uso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Bateria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Ligado ao PC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Só na fonte, sem PC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5800" y="4114800"/>
            <a:ext cx="10820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chemeClr val="tx1"/>
                </a:solidFill>
              </a:rPr>
              <a:t>O escopo foi revisto a cada ciclo da espiral: não havia imagens rotuladas para treinar uma CNN, a câmera integrada evitou problemas de compatibilidade e o aviso precisava chegar ao cuidador à distância.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9530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2 · PROJETO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2950"/>
            <a:ext cx="1082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Arquitetura de hardware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476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Gabriel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85800" y="1562100"/>
            <a:ext cx="2085975" cy="104775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Fonte USB</a:t>
            </a:r>
            <a:endParaRPr lang="en-US" sz="1425" dirty="0"/>
          </a:p>
          <a:p>
            <a:pPr algn="ctr" indent="0" marL="0">
              <a:buNone/>
            </a:pPr>
            <a:r>
              <a:rPr lang="en-US" sz="1650" b="1" dirty="0">
                <a:solidFill>
                  <a:schemeClr val="accent1"/>
                </a:solidFill>
              </a:rPr>
              <a:t>5 V / 2 A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2771775" y="1562100"/>
            <a:ext cx="45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28975" y="1562100"/>
            <a:ext cx="2076450" cy="104775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Gravador</a:t>
            </a:r>
            <a:endParaRPr lang="en-US" sz="1425" dirty="0"/>
          </a:p>
          <a:p>
            <a:pPr algn="ctr" indent="0" marL="0">
              <a:buNone/>
            </a:pPr>
            <a:r>
              <a:rPr lang="en-US" sz="1650" b="1" dirty="0">
                <a:solidFill>
                  <a:schemeClr val="accent1"/>
                </a:solidFill>
              </a:rPr>
              <a:t>CH340</a:t>
            </a:r>
            <a:endParaRPr lang="en-US" sz="1425" dirty="0"/>
          </a:p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USB ↔ UART</a:t>
            </a:r>
            <a:endParaRPr lang="en-US" sz="1425" dirty="0"/>
          </a:p>
        </p:txBody>
      </p:sp>
      <p:sp>
        <p:nvSpPr>
          <p:cNvPr id="8" name="Text 6"/>
          <p:cNvSpPr txBox="1"/>
          <p:nvPr/>
        </p:nvSpPr>
        <p:spPr>
          <a:xfrm>
            <a:off x="5305425" y="1562100"/>
            <a:ext cx="44767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753100" y="1562100"/>
            <a:ext cx="3209925" cy="1047750"/>
          </a:xfrm>
          <a:prstGeom prst="roundRect">
            <a:avLst>
              <a:gd name="adj" fmla="val 5455"/>
            </a:avLst>
          </a:prstGeom>
          <a:solidFill>
            <a:schemeClr val="accent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chemeClr val="bg1"/>
                </a:solidFill>
              </a:rPr>
              <a:t>ESP32</a:t>
            </a:r>
            <a:endParaRPr lang="en-US" sz="1425" dirty="0"/>
          </a:p>
          <a:p>
            <a:pPr algn="ctr" indent="0" marL="0">
              <a:buNone/>
            </a:pPr>
            <a:r>
              <a:rPr lang="en-US" sz="1425" dirty="0">
                <a:solidFill>
                  <a:schemeClr val="bg1"/>
                </a:solidFill>
              </a:rPr>
              <a:t>2 núcleos de 240 MHz</a:t>
            </a:r>
            <a:endParaRPr lang="en-US" sz="1425" dirty="0"/>
          </a:p>
          <a:p>
            <a:pPr algn="ctr" indent="0" marL="0">
              <a:buNone/>
            </a:pPr>
            <a:r>
              <a:rPr lang="en-US" sz="1425" dirty="0">
                <a:solidFill>
                  <a:schemeClr val="bg1"/>
                </a:solidFill>
              </a:rPr>
              <a:t>PSRAM 8 MB · Flash 16 MB · Wi-Fi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8963025" y="1562100"/>
            <a:ext cx="44767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↔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410700" y="1562100"/>
            <a:ext cx="2095500" cy="104775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chemeClr val="accent1"/>
                </a:solidFill>
              </a:rPr>
              <a:t>Câmera OV2640</a:t>
            </a:r>
            <a:endParaRPr lang="en-US" sz="1425" dirty="0"/>
          </a:p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DVP 8 bits + SCCB</a:t>
            </a:r>
            <a:endParaRPr lang="en-US" sz="142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72415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Figura 1 — Diagrama de blocos. A placa é a ESP32-CAM da RoboCore, sem eletrônica externa.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276600"/>
            <a:ext cx="108204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placa tem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mais memória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do que o anunciado: 16 MB de flash e 8 MB de PSRAM.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pinagem da câmera é a do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WROVER KIT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, e não a AI-Thinker. O perfil escolhido fica salvo na NVS.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Fonte de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 A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, porque Wi-Fi e câmera juntos causam picos de corrente.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9530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2 · PROJETO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2950"/>
            <a:ext cx="1082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Requisitos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476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Juliana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24000"/>
          <a:ext cx="5219700" cy="914400"/>
        </p:xfrm>
        <a:graphic>
          <a:graphicData uri="http://schemas.openxmlformats.org/drawingml/2006/table">
            <a:tbl>
              <a:tblPr/>
              <a:tblGrid>
                <a:gridCol w="666750"/>
                <a:gridCol w="3314700"/>
                <a:gridCol w="1238250"/>
              </a:tblGrid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bg1"/>
                          </a:solidFill>
                        </a:rPr>
                        <a:t>Funcionais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bg1"/>
                          </a:solidFill>
                        </a:rPr>
                        <a:t>Situação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RF01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Configuração pelo computador (USB)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VERIFICADO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RF03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Verificação diária automática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4"/>
                          </a:solidFill>
                        </a:rPr>
                        <a:t>IMPLEMENTADO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RF04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Qualquer comprimido e posição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VERIFICADO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RF05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Retirada só com evidência persistente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4"/>
                          </a:solidFill>
                        </a:rPr>
                        <a:t>IMPLEMENTADO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RF12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Aviso pelo Telegram, com foto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VERIFICADO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86500" y="1524000"/>
          <a:ext cx="5219700" cy="914400"/>
        </p:xfrm>
        <a:graphic>
          <a:graphicData uri="http://schemas.openxmlformats.org/drawingml/2006/table">
            <a:tbl>
              <a:tblPr/>
              <a:tblGrid>
                <a:gridCol w="666750"/>
                <a:gridCol w="3314700"/>
                <a:gridCol w="1238250"/>
              </a:tblGrid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bg1"/>
                          </a:solidFill>
                        </a:rPr>
                        <a:t>Não funcionais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bg1"/>
                          </a:solidFill>
                        </a:rPr>
                        <a:t>Situação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RNF01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Processamento todo no ESP32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VERIFICADO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RNF02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Leitura em até 2 s (</a:t>
                      </a:r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168–220 ms</a:t>
                      </a:r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VERIFICADO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RNF03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Pelo menos 90% de acerto por classe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PENDENTE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RNF06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20 ciclos sem reinício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PENDENTE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</a:rPr>
                        <a:t>RNF12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Ferramentas no Windows e no macOS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VERIFICADO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85800" y="4191000"/>
            <a:ext cx="108204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Principais requisitos. A lista completa (12 funcionais e 12 não funcionais) está no relatório.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9530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2 · PROJETO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2950"/>
            <a:ext cx="1082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Arquitetura de software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476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Juliana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00200"/>
            <a:ext cx="502920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Firmware em </a:t>
            </a:r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C++17</a:t>
            </a:r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, com </a:t>
            </a:r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ESP-IDF 5.4.1</a:t>
            </a:r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e </a:t>
            </a:r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FreeRTOS</a:t>
            </a:r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lógica de visão, agenda e estados não depende do hardware e é testada no PC (</a:t>
            </a:r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429 verificações</a:t>
            </a:r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).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Os avisos vão para uma fila, então a rede não atrasa as capturas.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86500" y="1524000"/>
          <a:ext cx="5219700" cy="914400"/>
        </p:xfrm>
        <a:graphic>
          <a:graphicData uri="http://schemas.openxmlformats.org/drawingml/2006/table">
            <a:tbl>
              <a:tblPr/>
              <a:tblGrid>
                <a:gridCol w="1619250"/>
                <a:gridCol w="3600450"/>
              </a:tblGrid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Tarefa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Função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main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Laço principal: comandos, agenda e leituras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usb_commands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Recebe os comandos em JSON pela serial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telegram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Envia os avisos por HTTPS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cam_task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Recebe os quadros da câmera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86500" y="3543300"/>
            <a:ext cx="5219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Tabela 1 — Tarefas do FreeRTOS.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9530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2 · PROJETO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2950"/>
            <a:ext cx="1082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Máquina de estados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476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Juliana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85800" y="1524000"/>
            <a:ext cx="1952625" cy="142875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Idle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2638425" y="1524000"/>
            <a:ext cx="447675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086100" y="1524000"/>
            <a:ext cx="1952625" cy="142875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Armed</a:t>
            </a:r>
            <a:endParaRPr lang="en-US" sz="1425" dirty="0"/>
          </a:p>
          <a:p>
            <a:pPr algn="ctr" indent="0" marL="0">
              <a:buNone/>
            </a:pPr>
            <a:r>
              <a:rPr lang="en-US" sz="1125" dirty="0">
                <a:solidFill>
                  <a:schemeClr val="tx1"/>
                </a:solidFill>
              </a:rPr>
              <a:t>aguarda o horário</a:t>
            </a:r>
            <a:endParaRPr lang="en-US" sz="1425" dirty="0"/>
          </a:p>
        </p:txBody>
      </p:sp>
      <p:sp>
        <p:nvSpPr>
          <p:cNvPr id="8" name="Text 6"/>
          <p:cNvSpPr txBox="1"/>
          <p:nvPr/>
        </p:nvSpPr>
        <p:spPr>
          <a:xfrm>
            <a:off x="5038725" y="1524000"/>
            <a:ext cx="4381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76875" y="1524000"/>
            <a:ext cx="1962150" cy="142875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25" b="1" dirty="0">
                <a:solidFill>
                  <a:schemeClr val="bg1"/>
                </a:solidFill>
              </a:rPr>
              <a:t>Monitoring</a:t>
            </a:r>
            <a:endParaRPr lang="en-US" sz="1425" dirty="0"/>
          </a:p>
          <a:p>
            <a:pPr algn="ctr" indent="0" marL="0">
              <a:buNone/>
            </a:pPr>
            <a:r>
              <a:rPr lang="en-US" sz="1125" dirty="0">
                <a:solidFill>
                  <a:schemeClr val="bg1"/>
                </a:solidFill>
              </a:rPr>
              <a:t>leitura a cada 5 s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7439025" y="1524000"/>
            <a:ext cx="4381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877175" y="1524000"/>
            <a:ext cx="1771650" cy="676275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 w="15875">
            <a:solidFill>
              <a:schemeClr val="bg2"/>
            </a:solidFill>
          </a:ln>
        </p:spPr>
        <p:txBody>
          <a:bodyPr wrap="square" lIns="127000" tIns="63500" rIns="101600" bIns="635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Removed</a:t>
            </a:r>
            <a:endParaRPr lang="en-US" sz="1425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dose vista e depois 2 leituras vazias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9734550" y="1524000"/>
            <a:ext cx="1771650" cy="676275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 w="15875">
            <a:solidFill>
              <a:schemeClr val="bg2"/>
            </a:solidFill>
          </a:ln>
        </p:spPr>
        <p:txBody>
          <a:bodyPr wrap="square" lIns="127000" tIns="63500" rIns="101600" bIns="635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Alert</a:t>
            </a:r>
            <a:endParaRPr lang="en-US" sz="1425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fim da janela com a dose presente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7877175" y="2276475"/>
            <a:ext cx="1771650" cy="676275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 w="15875">
            <a:solidFill>
              <a:schemeClr val="bg2"/>
            </a:solidFill>
          </a:ln>
        </p:spPr>
        <p:txBody>
          <a:bodyPr wrap="square" lIns="127000" tIns="63500" rIns="101600" bIns="635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NotLoaded</a:t>
            </a:r>
            <a:endParaRPr lang="en-US" sz="1425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compartimento já estava vazio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9734550" y="2276475"/>
            <a:ext cx="1771650" cy="676275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 w="15875">
            <a:solidFill>
              <a:schemeClr val="bg2"/>
            </a:solidFill>
          </a:ln>
        </p:spPr>
        <p:txBody>
          <a:bodyPr wrap="square" lIns="127000" tIns="63500" rIns="101600" bIns="635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Fault</a:t>
            </a:r>
            <a:endParaRPr lang="en-US" sz="1425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sem leitura válida</a:t>
            </a:r>
            <a:endParaRPr lang="en-US" sz="1425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6705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Figura 2 — Estados do ciclo diário.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2350"/>
            <a:ext cx="108204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66700" indent="-2667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Sem leitura válida, o resultado é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Fault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, nunca “retirada”.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dose é verificada durante a janela, então o cuidador pode repor quando quiser.</a:t>
            </a:r>
            <a:endParaRPr lang="en-US" sz="1800" dirty="0"/>
          </a:p>
          <a:p>
            <a:pPr marL="266700" indent="-2667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Depois do alerta, o sistema observa por mais 30 min e avisa se houver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retirada com atraso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9530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2 · PROJETO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2950"/>
            <a:ext cx="1082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Comunicação e interface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476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Juliana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24000"/>
          <a:ext cx="5219700" cy="914400"/>
        </p:xfrm>
        <a:graphic>
          <a:graphicData uri="http://schemas.openxmlformats.org/drawingml/2006/table">
            <a:tbl>
              <a:tblPr/>
              <a:tblGrid>
                <a:gridCol w="2095500"/>
                <a:gridCol w="3124200"/>
              </a:tblGrid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bg1"/>
                          </a:solidFill>
                        </a:rPr>
                        <a:t>Enlace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bg1"/>
                          </a:solidFill>
                        </a:rPr>
                        <a:t>Protocolo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Computador ↔ ESP32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USB-UART, mensagens em </a:t>
                      </a:r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JSON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ESP32 ↔ câmera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SCCB e DVP de 8 bits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Rede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Wi-Fi 2,4 GHz com WPA2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Hora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SNTP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Aviso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5" b="1" dirty="0">
                          <a:solidFill>
                            <a:schemeClr val="tx1"/>
                          </a:solidFill>
                        </a:rPr>
                        <a:t>HTTPS</a:t>
                      </a:r>
                      <a:pPr indent="0" marL="0">
                        <a:buNone/>
                      </a:pPr>
                      <a:r>
                        <a:rPr lang="en-US" sz="1425" dirty="0">
                          <a:solidFill>
                            <a:schemeClr val="tx1"/>
                          </a:solidFill>
                        </a:rPr>
                        <a:t> (Telegram Bot API)</a:t>
                      </a:r>
                      <a:endParaRPr lang="en-US" sz="142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5800" y="4038600"/>
            <a:ext cx="5219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 configuração é feita por um painel em Python no computador (Windows e macOS).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286500" y="1524000"/>
            <a:ext cx="5219700" cy="781050"/>
          </a:xfrm>
          <a:prstGeom prst="roundRect">
            <a:avLst>
              <a:gd name="adj" fmla="val 12195"/>
            </a:avLst>
          </a:prstGeom>
          <a:solidFill>
            <a:srgbClr val="EFFDDE"/>
          </a:solidFill>
          <a:ln w="9525">
            <a:solidFill>
              <a:srgbClr val="CFE9B8"/>
            </a:solidFill>
          </a:ln>
        </p:spPr>
        <p:txBody>
          <a:bodyPr wrap="square" lIns="177800" tIns="76200" rIns="177800" bIns="76200" rtlCol="0" anchor="ctr"/>
          <a:lstStyle/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⏰ </a:t>
            </a:r>
            <a:pPr algn="l" indent="0" marL="0">
              <a:buNone/>
            </a:pPr>
            <a:r>
              <a:rPr lang="en-US" sz="1425" b="1" dirty="0">
                <a:solidFill>
                  <a:schemeClr val="tx1"/>
                </a:solidFill>
              </a:rPr>
              <a:t>Hora da dose: 08:00</a:t>
            </a:r>
            <a:endParaRPr lang="en-US" sz="1425" dirty="0"/>
          </a:p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📷 Verificando o compartimento por até 30 min.</a:t>
            </a:r>
            <a:endParaRPr lang="en-US" sz="1425" dirty="0"/>
          </a:p>
        </p:txBody>
      </p:sp>
      <p:sp>
        <p:nvSpPr>
          <p:cNvPr id="8" name="Text 5"/>
          <p:cNvSpPr/>
          <p:nvPr/>
        </p:nvSpPr>
        <p:spPr>
          <a:xfrm>
            <a:off x="6286500" y="2419350"/>
            <a:ext cx="5219700" cy="781050"/>
          </a:xfrm>
          <a:prstGeom prst="roundRect">
            <a:avLst>
              <a:gd name="adj" fmla="val 12195"/>
            </a:avLst>
          </a:prstGeom>
          <a:solidFill>
            <a:srgbClr val="EFFDDE"/>
          </a:solidFill>
          <a:ln w="9525">
            <a:solidFill>
              <a:srgbClr val="CFE9B8"/>
            </a:solidFill>
          </a:ln>
        </p:spPr>
        <p:txBody>
          <a:bodyPr wrap="square" lIns="177800" tIns="76200" rIns="177800" bIns="76200" rtlCol="0" anchor="ctr"/>
          <a:lstStyle/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🔔 </a:t>
            </a:r>
            <a:pPr algn="l" indent="0" marL="0">
              <a:buNone/>
            </a:pPr>
            <a:r>
              <a:rPr lang="en-US" sz="1425" b="1" dirty="0">
                <a:solidFill>
                  <a:schemeClr val="tx1"/>
                </a:solidFill>
              </a:rPr>
              <a:t>Dose NÃO tomada</a:t>
            </a:r>
            <a:endParaRPr lang="en-US" sz="1425" dirty="0"/>
          </a:p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⏰ Ainda no compartimento às 08:30 </a:t>
            </a:r>
            <a:pPr algn="l" indent="0" marL="0">
              <a:buNone/>
            </a:pPr>
            <a:r>
              <a:rPr lang="en-US" sz="1425" i="1" dirty="0">
                <a:solidFill>
                  <a:schemeClr val="tx1"/>
                </a:solidFill>
              </a:rPr>
              <a:t>(com foto)</a:t>
            </a:r>
            <a:endParaRPr lang="en-US" sz="1425" dirty="0"/>
          </a:p>
        </p:txBody>
      </p:sp>
      <p:sp>
        <p:nvSpPr>
          <p:cNvPr id="9" name="Text 6"/>
          <p:cNvSpPr/>
          <p:nvPr/>
        </p:nvSpPr>
        <p:spPr>
          <a:xfrm>
            <a:off x="6286500" y="3314700"/>
            <a:ext cx="5219700" cy="781050"/>
          </a:xfrm>
          <a:prstGeom prst="roundRect">
            <a:avLst>
              <a:gd name="adj" fmla="val 12195"/>
            </a:avLst>
          </a:prstGeom>
          <a:solidFill>
            <a:srgbClr val="EFFDDE"/>
          </a:solidFill>
          <a:ln w="9525">
            <a:solidFill>
              <a:srgbClr val="CFE9B8"/>
            </a:solidFill>
          </a:ln>
        </p:spPr>
        <p:txBody>
          <a:bodyPr wrap="square" lIns="177800" tIns="76200" rIns="177800" bIns="76200" rtlCol="0" anchor="ctr"/>
          <a:lstStyle/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✅ </a:t>
            </a:r>
            <a:pPr algn="l" indent="0" marL="0">
              <a:buNone/>
            </a:pPr>
            <a:r>
              <a:rPr lang="en-US" sz="1425" b="1" dirty="0">
                <a:solidFill>
                  <a:schemeClr val="tx1"/>
                </a:solidFill>
              </a:rPr>
              <a:t>Dose tomada com atraso</a:t>
            </a:r>
            <a:endParaRPr lang="en-US" sz="1425" dirty="0"/>
          </a:p>
          <a:p>
            <a:pPr algn="l" indent="0" marL="0">
              <a:buNone/>
            </a:pPr>
            <a:r>
              <a:rPr lang="en-US" sz="1425" dirty="0">
                <a:solidFill>
                  <a:schemeClr val="tx1"/>
                </a:solidFill>
              </a:rPr>
              <a:t>🕒 Retirada confirmada às 08:41</a:t>
            </a:r>
            <a:endParaRPr lang="en-US" sz="1425" dirty="0"/>
          </a:p>
        </p:txBody>
      </p:sp>
      <p:sp>
        <p:nvSpPr>
          <p:cNvPr id="10" name="Text 7"/>
          <p:cNvSpPr txBox="1"/>
          <p:nvPr/>
        </p:nvSpPr>
        <p:spPr>
          <a:xfrm>
            <a:off x="6286500" y="4210050"/>
            <a:ext cx="5219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Figura 3 — Mensagens que o cuidador recebe no Telegram.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9530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2 · PROJETO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2950"/>
            <a:ext cx="1082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Visão computacional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476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Henrique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24000"/>
            <a:ext cx="5334000" cy="438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30200" indent="-330200">
              <a:lnSpc>
                <a:spcPct val="112000"/>
              </a:lnSpc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25" dirty="0">
                <a:solidFill>
                  <a:schemeClr val="tx1"/>
                </a:solidFill>
              </a:rPr>
              <a:t>A imagem (160 × 120, em tons de cinza) é recortada no compartimento e dividida em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725" b="1" dirty="0">
                <a:solidFill>
                  <a:schemeClr val="tx1"/>
                </a:solidFill>
              </a:rPr>
              <a:t>32 × 32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725" dirty="0">
                <a:solidFill>
                  <a:schemeClr val="tx1"/>
                </a:solidFill>
              </a:rPr>
              <a:t> células.</a:t>
            </a:r>
            <a:endParaRPr lang="en-US" sz="1800" dirty="0"/>
          </a:p>
          <a:p>
            <a:pPr marL="330200" indent="-330200">
              <a:lnSpc>
                <a:spcPct val="112000"/>
              </a:lnSpc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25" dirty="0">
                <a:solidFill>
                  <a:schemeClr val="tx1"/>
                </a:solidFill>
              </a:rPr>
              <a:t>Só o compartimento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725" b="1" dirty="0">
                <a:solidFill>
                  <a:schemeClr val="tx1"/>
                </a:solidFill>
              </a:rPr>
              <a:t>vazio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725" dirty="0">
                <a:solidFill>
                  <a:schemeClr val="tx1"/>
                </a:solidFill>
              </a:rPr>
              <a:t> é calibrado. O método é uma subtração de fundo.</a:t>
            </a:r>
            <a:endParaRPr lang="en-US" sz="1800" dirty="0"/>
          </a:p>
          <a:p>
            <a:pPr marL="330200" indent="-330200">
              <a:lnSpc>
                <a:spcPct val="112000"/>
              </a:lnSpc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25" dirty="0">
                <a:solidFill>
                  <a:schemeClr val="tx1"/>
                </a:solidFill>
              </a:rPr>
              <a:t>O brilho é compensado pela mediana e cada célula é comparada com a referência.</a:t>
            </a:r>
            <a:endParaRPr lang="en-US" sz="1800" dirty="0"/>
          </a:p>
          <a:p>
            <a:pPr marL="330200" indent="-330200">
              <a:lnSpc>
                <a:spcPct val="112000"/>
              </a:lnSpc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25" dirty="0">
                <a:solidFill>
                  <a:schemeClr val="tx1"/>
                </a:solidFill>
              </a:rPr>
              <a:t>Uma mancha de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725" b="1" dirty="0">
                <a:solidFill>
                  <a:schemeClr val="tx1"/>
                </a:solidFill>
              </a:rPr>
              <a:t>6 ou mais células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725" dirty="0">
                <a:solidFill>
                  <a:schemeClr val="tx1"/>
                </a:solidFill>
              </a:rPr>
              <a:t> alteradas indica dose presente.</a:t>
            </a:r>
            <a:endParaRPr lang="en-US" sz="18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chemeClr val="tx2"/>
                </a:solidFill>
              </a:rPr>
              <a:t>Funciona com qualquer comprimido, em qualquer posição, e não precisa de treinamento.</a:t>
            </a:r>
            <a:endParaRPr lang="en-US" sz="1800" dirty="0"/>
          </a:p>
        </p:txBody>
      </p:sp>
      <p:pic>
        <p:nvPicPr>
          <p:cNvPr id="6" name="Image 0" descr="Referência vazia, compartimento com comprimido e células altera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4150" y="1524000"/>
            <a:ext cx="4972050" cy="12259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34150" y="2826185"/>
            <a:ext cx="49720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Figura 4 — Vazio, com comprimido e células alteradas (mancha de 37).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4150" y="3295650"/>
          <a:ext cx="4972050" cy="914400"/>
        </p:xfrm>
        <a:graphic>
          <a:graphicData uri="http://schemas.openxmlformats.org/drawingml/2006/table">
            <a:tbl>
              <a:tblPr/>
              <a:tblGrid>
                <a:gridCol w="1333500"/>
                <a:gridCol w="1676400"/>
                <a:gridCol w="1962150"/>
              </a:tblGrid>
              <a:tr h="3238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chemeClr val="bg1"/>
                          </a:solidFill>
                        </a:rPr>
                        <a:t>Teste (11/10)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chemeClr val="bg1"/>
                          </a:solidFill>
                        </a:rPr>
                        <a:t>Antes: cheio × vazio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chemeClr val="bg1"/>
                          </a:solidFill>
                        </a:rPr>
                        <a:t>Agora: só vazio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chemeClr val="tx1"/>
                          </a:solidFill>
                        </a:rPr>
                        <a:t>Calibrado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chemeClr val="tx1"/>
                          </a:solidFill>
                        </a:rPr>
                        <a:t>Presente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chemeClr val="tx1"/>
                          </a:solidFill>
                        </a:rPr>
                        <a:t>Presente</a:t>
                      </a:r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chemeClr val="tx1"/>
                          </a:solidFill>
                        </a:rPr>
                        <a:t> (mancha 59)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chemeClr val="tx1"/>
                          </a:solidFill>
                        </a:rPr>
                        <a:t>Vazio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chemeClr val="tx1"/>
                          </a:solidFill>
                        </a:rPr>
                        <a:t>Vazio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chemeClr val="tx1"/>
                          </a:solidFill>
                        </a:rPr>
                        <a:t>Vazio</a:t>
                      </a:r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chemeClr val="tx1"/>
                          </a:solidFill>
                        </a:rPr>
                        <a:t> (mancha 0)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chemeClr val="tx1"/>
                          </a:solidFill>
                        </a:rPr>
                        <a:t>Outra cápsula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chemeClr val="tx1"/>
                          </a:solidFill>
                        </a:rPr>
                        <a:t>Inconclusivo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chemeClr val="tx1"/>
                          </a:solidFill>
                        </a:rPr>
                        <a:t>Presente</a:t>
                      </a:r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chemeClr val="tx1"/>
                          </a:solidFill>
                        </a:rPr>
                        <a:t> (mancha 50)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8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chemeClr val="tx1"/>
                          </a:solidFill>
                        </a:rPr>
                        <a:t>Deslocado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chemeClr val="tx1"/>
                          </a:solidFill>
                        </a:rPr>
                        <a:t>Inconclusivo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chemeClr val="tx1"/>
                          </a:solidFill>
                        </a:rPr>
                        <a:t>Presente</a:t>
                      </a:r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chemeClr val="tx1"/>
                          </a:solidFill>
                        </a:rPr>
                        <a:t> (mancha 66)</a:t>
                      </a:r>
                      <a:endParaRPr lang="en-US" sz="1275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34150" y="5029200"/>
            <a:ext cx="49720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Tabela 2 — Leituras na placa antes e depois do novo critério.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9530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3 ·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2950"/>
            <a:ext cx="1082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Protótipo e resultados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476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Henrique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524000"/>
            <a:ext cx="3467100" cy="2952750"/>
          </a:xfrm>
          <a:prstGeom prst="roundRect">
            <a:avLst>
              <a:gd name="adj" fmla="val 193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pic>
        <p:nvPicPr>
          <p:cNvPr id="6" name="Image 0" descr="Foto do protóti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069" y="1524000"/>
            <a:ext cx="2214563" cy="2952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4552950"/>
            <a:ext cx="3467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Figura 5 — Protótipo em bancada.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62450" y="1524000"/>
            <a:ext cx="3467100" cy="2952750"/>
          </a:xfrm>
          <a:prstGeom prst="roundRect">
            <a:avLst>
              <a:gd name="adj" fmla="val 193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pic>
        <p:nvPicPr>
          <p:cNvPr id="9" name="Image 1" descr="Avisos no Tele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637" y="1524000"/>
            <a:ext cx="1646726" cy="29527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362450" y="4552950"/>
            <a:ext cx="3467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Figura 6 — Avisos recebidos no celular.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39100" y="1524000"/>
          <a:ext cx="3467100" cy="914400"/>
        </p:xfrm>
        <a:graphic>
          <a:graphicData uri="http://schemas.openxmlformats.org/drawingml/2006/table">
            <a:tbl>
              <a:tblPr/>
              <a:tblGrid>
                <a:gridCol w="2038350"/>
                <a:gridCol w="14287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Medida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Resultado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Tempo por leitura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</a:rPr>
                        <a:t>168–220 ms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Comando → foto no celular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</a:rPr>
                        <a:t>≈ 5 s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Testes automáticos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</a:rPr>
                        <a:t>429</a:t>
                      </a:r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 aprovados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Integração contínua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Ubuntu e macOS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8039100" y="4114800"/>
            <a:ext cx="3467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Tabela 3 — Medidas (meta por leitura: 2 s).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5029200"/>
            <a:ext cx="10820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75" dirty="0">
                <a:solidFill>
                  <a:schemeClr val="tx1"/>
                </a:solidFill>
              </a:rPr>
              <a:t>O ciclo completo foi verificado na placa: início da janela, alerta com foto e retirada com atraso.</a:t>
            </a:r>
            <a:endParaRPr lang="en-US" sz="1575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75" dirty="0">
                <a:solidFill>
                  <a:schemeClr val="tx2"/>
                </a:solidFill>
              </a:rPr>
              <a:t>A detecção foi conferida em quatro leituras. O ensaio de acurácia ainda será feito.</a:t>
            </a:r>
            <a:endParaRPr lang="en-US" sz="15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9530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3 ·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2950"/>
            <a:ext cx="1082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Problemas enfrentados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476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Henrique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24000"/>
          <a:ext cx="10820400" cy="914400"/>
        </p:xfrm>
        <a:graphic>
          <a:graphicData uri="http://schemas.openxmlformats.org/drawingml/2006/table">
            <a:tbl>
              <a:tblPr/>
              <a:tblGrid>
                <a:gridCol w="3810000"/>
                <a:gridCol w="4000500"/>
                <a:gridCol w="3009900"/>
              </a:tblGrid>
              <a:tr h="5905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Problema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Causa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Solução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Câmera não inicializava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 placa usa a pinagem WROVER KIT, e não a AI-Thinker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Perfis de pinagem salvos na NVS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Reinício em loop ao ligar o Wi-Fi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Estouro de pilha com Wi-Fi e câmera juntos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Pilhas aumentadas para 4 KB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Envio ao Telegram falhava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Faltava RAM interna para o TLS do HTTPS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Uso da PSRAM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Calibração falhava após mexer na câmera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Câmera e caixa sem fixação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Suporte fixo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Outra cápsula ou comprimido deslocado davam “inconclusivo”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 referência “cheio” só valia para um comprimido em uma posição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Uso apenas da referência do vazio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95300"/>
            <a:ext cx="10820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4 · PLANEJAMENTO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42950"/>
            <a:ext cx="10820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Cronograma e próximos passos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477000"/>
            <a:ext cx="2476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Henrique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24000"/>
          <a:ext cx="52197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14450"/>
                <a:gridCol w="1962150"/>
                <a:gridCol w="1028700"/>
              </a:tblGrid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Data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Previsto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Realizado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Situação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25/09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Requisitos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+ firmware v1.0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ADIANTADO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02/10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Arquitetura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+ MVP com Telegram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ADIANTADO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09/10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Firmware inicial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Calibração e visão revista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ADIANTADO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30/10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Fluxo completo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Já pronto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ANTECIPADO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13–27/11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Ensaios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A executar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PREVISTO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11/12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P2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A executar</a:t>
                      </a:r>
                      <a:endParaRPr lang="en-US" sz="13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6"/>
                          </a:solidFill>
                        </a:rPr>
                        <a:t>PREVISTO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9D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86500" y="1524000"/>
            <a:ext cx="5219700" cy="2019300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 w="15875">
            <a:solidFill>
              <a:schemeClr val="bg2"/>
            </a:solidFill>
          </a:ln>
        </p:spPr>
        <p:txBody>
          <a:bodyPr wrap="square" lIns="254000" tIns="203200" rIns="254000" bIns="20320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725" b="1" dirty="0">
                <a:solidFill>
                  <a:schemeClr val="accent1"/>
                </a:solidFill>
              </a:rPr>
              <a:t>Próximos passos até a P2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Documentar a montagem e a iluminação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Testar outros comprimidos e posições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Medir a acurácia: 30 + 30 leituras e 10 oclusões</a:t>
            </a:r>
            <a:endParaRPr lang="en-US" sz="1425" dirty="0"/>
          </a:p>
          <a:p>
            <a:pPr algn="l" marL="266700" indent="-2667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Rodar 20 ciclos e 24 h só na fonte</a:t>
            </a:r>
            <a:endParaRPr lang="en-US" sz="14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53700" y="6477000"/>
            <a:ext cx="952500" cy="2095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ditor de Medicacao">
  <a:themeElements>
    <a:clrScheme name="Auditor de Medicacao">
      <a:dk1>
        <a:srgbClr val="16202B"/>
      </a:dk1>
      <a:lt1>
        <a:srgbClr val="FFFFFF"/>
      </a:lt1>
      <a:dk2>
        <a:srgbClr val="5B6672"/>
      </a:dk2>
      <a:lt2>
        <a:srgbClr val="EEF2F6"/>
      </a:lt2>
      <a:accent1>
        <a:srgbClr val="1B4F72"/>
      </a:accent1>
      <a:accent2>
        <a:srgbClr val="2A9D8F"/>
      </a:accent2>
      <a:accent3>
        <a:srgbClr val="2E7D32"/>
      </a:accent3>
      <a:accent4>
        <a:srgbClr val="B26A00"/>
      </a:accent4>
      <a:accent5>
        <a:srgbClr val="B3261E"/>
      </a:accent5>
      <a:accent6>
        <a:srgbClr val="6B7280"/>
      </a:accent6>
      <a:hlink>
        <a:srgbClr val="1B4F72"/>
      </a:hlink>
      <a:folHlink>
        <a:srgbClr val="5B6672"/>
      </a:folHlink>
    </a:clrScheme>
    <a:fontScheme name="Auditor de Medicaca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P1 — Auditor Visual de Medicação</dc:title>
  <dc:subject>PptxGenJS Presentation</dc:subject>
  <dc:creator>Gabriel Dias Tambelli, Henrique Murakami de Paula, Juliana Marcarini Carloni</dc:creator>
  <cp:lastModifiedBy>Gabriel Dias Tambelli, Henrique Murakami de Paula, Juliana Marcarini Carloni</cp:lastModifiedBy>
  <cp:revision>1</cp:revision>
  <dcterms:created xsi:type="dcterms:W3CDTF">2026-10-13T01:54:52Z</dcterms:created>
  <dcterms:modified xsi:type="dcterms:W3CDTF">2026-10-13T01:54:52Z</dcterms:modified>
</cp:coreProperties>
</file>